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3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urance_welco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0175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MEALVANA ENDURANCE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4023360"/>
            <a:ext cx="27432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DE4D3"/>
                </a:solidFill>
                <a:latin typeface="Calibri"/>
              </a:defRPr>
            </a:pPr>
            <a:r>
              <a:t>Science-Based Nutrition Planning for Endurance Athletes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C3"/>
                </a:solidFill>
                <a:latin typeface="Calibri"/>
              </a:defRPr>
            </a:pPr>
            <a:r>
              <a:t>B.E.S.T. Coaches Presentation  |  March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Today's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8B3D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The Nutrition Gap in Coaching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8B3D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What is Mealvana Endurance?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8B3D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Key Features &amp; How It Works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DE4D3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Live App Demo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8B3D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Coach Mode: Your Dashboard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DE4D3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Coach Mode Demo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8B3D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Product Roadmap &amp; Upcoming Features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8B3D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Design Previews: Food Logging &amp; More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8B3D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Pricing &amp; Pilot Coach Program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DE4D3"/>
                </a:solidFill>
                <a:latin typeface="Calibri"/>
              </a:rPr>
              <a:t>●  </a:t>
            </a:r>
            <a:r>
              <a:rPr sz="2000">
                <a:solidFill>
                  <a:srgbClr val="F8F6EB"/>
                </a:solidFill>
                <a:latin typeface="Calibr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74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30428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340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1638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935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023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45312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82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12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3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7424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Nutrition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Why endurance athletes are under-fueled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00400" cy="2560320"/>
          </a:xfrm>
          <a:prstGeom prst="roundRect">
            <a:avLst>
              <a:gd name="adj" fmla="val 5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8B3D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C3"/>
                </a:solidFill>
                <a:latin typeface="Calibri"/>
              </a:defRPr>
            </a:pPr>
            <a:r>
              <a:t>of age-group athletes</a:t>
            </a:r>
            <a:br/>
            <a:r>
              <a:t>wing race nutrition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00400" cy="2560320"/>
          </a:xfrm>
          <a:prstGeom prst="roundRect">
            <a:avLst>
              <a:gd name="adj" fmla="val 5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4393"/>
                </a:solidFill>
                <a:latin typeface="Calibri"/>
              </a:defRPr>
            </a:pPr>
            <a:r>
              <a:t>30-50%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C3"/>
                </a:solidFill>
                <a:latin typeface="Calibri"/>
              </a:defRPr>
            </a:pPr>
            <a:r>
              <a:t>performance drop from</a:t>
            </a:r>
            <a:br/>
            <a:r>
              <a:t>poor fueling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200400" cy="2560320"/>
          </a:xfrm>
          <a:prstGeom prst="roundRect">
            <a:avLst>
              <a:gd name="adj" fmla="val 5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DE4D3"/>
                </a:solidFill>
                <a:latin typeface="Calibri"/>
              </a:defRPr>
            </a:pPr>
            <a:r>
              <a:t>2-3 hrs/wk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C3"/>
                </a:solidFill>
                <a:latin typeface="Calibri"/>
              </a:defRPr>
            </a:pPr>
            <a:r>
              <a:t>coaches spend on</a:t>
            </a:r>
            <a:br/>
            <a:r>
              <a:t>manual nutrition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3ED"/>
                </a:solidFill>
                <a:latin typeface="Calibri"/>
              </a:defRPr>
            </a:pPr>
            <a:r>
              <a:t>"What surprised us was how many coaches mentioned the fueling knowledge gap."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C3"/>
                </a:solidFill>
                <a:latin typeface="Calibri"/>
              </a:defRPr>
            </a:pPr>
            <a:r>
              <a:t>-- Mealvana Coach Research,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Mealvana Endurance?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A personalized nutritionist in every athlete's pocket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AI-powered nutrition plans generated in seconds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Science-based: ACSM formulas &amp; evidence-based guidelines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Respects athlete food preferences (3-tier like/willing/dislike system)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Integrates with Training Peaks &amp; Final Surge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Offline-first: works without internet, syncs when connected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Multi-sport: running, cycling, swimming &amp; brick workouts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Phase-specific plans: Before, During &amp; After activity</a:t>
            </a:r>
          </a:p>
        </p:txBody>
      </p:sp>
      <p:pic>
        <p:nvPicPr>
          <p:cNvPr id="6" name="Picture 5" descr="endurance_welco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28600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Evidence-based nutrition science meets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50800"/>
          </a:xfrm>
          <a:prstGeom prst="round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B3D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1-4g/kg carbs based on time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Low fat, low fiber for GI comfort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Timing-aware: 15 min to 4 hrs 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Personalized food recommendations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474720" cy="50800"/>
          </a:xfrm>
          <a:prstGeom prst="roundRect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DE4D3"/>
                </a:solidFill>
                <a:latin typeface="Calibri"/>
              </a:defRPr>
            </a:pPr>
            <a:r>
              <a:t>DURING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30-90g/hr carbs (gut training level)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300-1000mg/hr sodium (heat-adjusted)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023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0.4-0.8L/hr hydration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6634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Portable, easy-to-consume foods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8288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1828800"/>
            <a:ext cx="3474720" cy="50800"/>
          </a:xfrm>
          <a:prstGeom prst="round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4393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1g/kg carbs within 2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383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0.2g/kg protein for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23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Rehydration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6634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6EB"/>
                </a:solidFill>
                <a:latin typeface="Calibri"/>
              </a:defRPr>
            </a:pPr>
            <a:r>
              <a:t>▸ Real food preferences respected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Smart Nutrition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AI + Linear Programming Optimization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37360"/>
            <a:ext cx="137160" cy="137160"/>
          </a:xfrm>
          <a:prstGeom prst="ellipse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DE4D3"/>
                </a:solidFill>
                <a:latin typeface="Calibri"/>
              </a:defRPr>
            </a:pPr>
            <a:r>
              <a:t>Dual-System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AI primary system for personalization, algorithmic fallback ensures plans ALWAYS generate (&lt;1 sec)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97480"/>
            <a:ext cx="137160" cy="13716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B3D"/>
                </a:solidFill>
                <a:latin typeface="Calibri"/>
              </a:defRPr>
            </a:pPr>
            <a:r>
              <a:t>Multi-Objective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Simultaneous optimization of carbs, protein, fat, sodium &amp; hydration using linear programming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57600"/>
            <a:ext cx="137160" cy="137160"/>
          </a:xfrm>
          <a:prstGeom prst="ellipse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393"/>
                </a:solidFill>
                <a:latin typeface="Calibri"/>
              </a:defRPr>
            </a:pPr>
            <a:r>
              <a:t>Safety-First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No unsafe food combinations (no oatmeal during runs), GI sensitivity tracking, sodium limits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617720"/>
            <a:ext cx="137160" cy="137160"/>
          </a:xfrm>
          <a:prstGeom prst="ellipse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DE4D3"/>
                </a:solidFill>
                <a:latin typeface="Calibri"/>
              </a:defRPr>
            </a:pPr>
            <a:r>
              <a:t>Weather-Aware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00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Adjusts hydration and sodium based on temperature, humidity &amp; indoor/outdoor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577840"/>
            <a:ext cx="137160" cy="13716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B3D"/>
                </a:solidFill>
                <a:latin typeface="Calibri"/>
              </a:defRPr>
            </a:pPr>
            <a:r>
              <a:t>Gut Training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Graduated carb targets based on athlete's gut training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Training Platform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Works with the tools coaches already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8B3D"/>
                </a:solidFill>
                <a:latin typeface="Calibri"/>
              </a:defRPr>
            </a:pPr>
            <a:r>
              <a:t>Training Peaks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Automatic workout sync from Training Peaks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One-click OAuth connection (no credential sharing)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Smart change detection when schedules update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Automatic nutrition plan staleness flagging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DE4D3"/>
                </a:solidFill>
                <a:latin typeface="Calibri"/>
              </a:defRPr>
            </a:pPr>
            <a:r>
              <a:t>Final Surge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Full Final Surge integration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Pull athlete schedules automatically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Support for all activity types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Bidirectional sync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C3"/>
                </a:solidFill>
                <a:latin typeface="Calibri"/>
              </a:defRPr>
            </a:pPr>
            <a:r>
              <a:t>More platform integrations coming soon (Strava, Garmin, and more)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Food Preferences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Athletes eat what they actually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50800"/>
          </a:xfrm>
          <a:prstGeom prst="roundRect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4D3"/>
                </a:solidFill>
                <a:latin typeface="Calibri"/>
              </a:defRPr>
            </a:pPr>
            <a:r>
              <a:t>❤  LIKED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6EB"/>
                </a:solidFill>
                <a:latin typeface="Calibri"/>
              </a:defRPr>
            </a:pPr>
            <a:r>
              <a:t>Strong preference (+20 priority)</a:t>
            </a:r>
            <a:br/>
            <a:r>
              <a:t>Recommended first in 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3474720" cy="50800"/>
          </a:xfrm>
          <a:prstGeom prst="round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B3D"/>
                </a:solidFill>
                <a:latin typeface="Calibri"/>
              </a:defRPr>
            </a:pPr>
            <a:r>
              <a:t>⭐  WILLING TO 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6EB"/>
                </a:solidFill>
                <a:latin typeface="Calibri"/>
              </a:defRPr>
            </a:pPr>
            <a:r>
              <a:t>Moderate preference (+5 priority)</a:t>
            </a:r>
            <a:br/>
            <a:r>
              <a:t>Used when needed for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0116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011680"/>
            <a:ext cx="3474720" cy="50800"/>
          </a:xfrm>
          <a:prstGeom prst="round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4393"/>
                </a:solidFill>
                <a:latin typeface="Calibri"/>
              </a:defRPr>
            </a:pPr>
            <a:r>
              <a:t>⛔  DISLIKED / ALLERGIC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6EB"/>
                </a:solidFill>
                <a:latin typeface="Calibri"/>
              </a:defRPr>
            </a:pPr>
            <a:r>
              <a:t>Automatically excluded</a:t>
            </a:r>
            <a:br/>
            <a:r>
              <a:t>Never appears in 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100+ foods with detailed nutrition data and phase appropriateness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Phase-specific intelligence: right foods for right timing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Higher adherence = better race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LIVE APP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0" y="3200400"/>
            <a:ext cx="2743200" cy="38100"/>
          </a:xfrm>
          <a:prstGeom prst="rect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AAC3"/>
                </a:solidFill>
                <a:latin typeface="Calibri"/>
              </a:defRPr>
            </a:pPr>
            <a:r>
              <a:t>Creating a nutrition plan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Create a new activity (marathon training run)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Set distance, pace, and conditions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Generate personalized nutrition plan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Review Before / During / After phases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5DE4D3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Swap foods and adjust quantities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Coach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Manage your athletes' nutrition from one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38912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B3D"/>
                </a:solidFill>
                <a:latin typeface="Calibri"/>
              </a:defRPr>
            </a:pPr>
            <a:r>
              <a:t>Athlete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Many-to-many: manage multiple athletes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Athlete codes for easy pairing (ATH-XXXXXXXX)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Permission-based access levels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Real-time messaging with athletes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Comment on specific activities or plans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38912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E4D3"/>
                </a:solidFill>
                <a:latin typeface="Calibri"/>
              </a:defRPr>
            </a:pPr>
            <a:r>
              <a:t>Nutrition Oversight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View athlete nutrition plans (read or edit)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Track completion rates &amp; macro adherence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Coach directory for athlete discovery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Seamless coach/athlete mode toggle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DE4D3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Web-based dashboard (coming soon)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Coach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Everything at a glance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2011680"/>
            <a:ext cx="640080" cy="64008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B3D"/>
                </a:solidFill>
                <a:latin typeface="Calibri"/>
              </a:defRPr>
            </a:pPr>
            <a: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C3"/>
                </a:solidFill>
                <a:latin typeface="Calibri"/>
              </a:defRPr>
            </a:pPr>
            <a:r>
              <a:t>Submit coach application</a:t>
            </a:r>
            <a:br/>
            <a:r>
              <a:t>for verification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2011680"/>
            <a:ext cx="640080" cy="640080"/>
          </a:xfrm>
          <a:prstGeom prst="ellipse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4D3"/>
                </a:solidFill>
                <a:latin typeface="Calibri"/>
              </a:defRPr>
            </a:pPr>
            <a: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C3"/>
                </a:solidFill>
                <a:latin typeface="Calibri"/>
              </a:defRPr>
            </a:pPr>
            <a:r>
              <a:t>Invite athletes via</a:t>
            </a:r>
            <a:br/>
            <a:r>
              <a:t>athlete code (ATH-XXXX)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B3D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C3"/>
                </a:solidFill>
                <a:latin typeface="Calibri"/>
              </a:defRPr>
            </a:pPr>
            <a:r>
              <a:t>View plans, track</a:t>
            </a:r>
            <a:br/>
            <a:r>
              <a:t>adherence, add comments</a:t>
            </a:r>
          </a:p>
        </p:txBody>
      </p:sp>
      <p:sp>
        <p:nvSpPr>
          <p:cNvPr id="14" name="Oval 13"/>
          <p:cNvSpPr/>
          <p:nvPr/>
        </p:nvSpPr>
        <p:spPr>
          <a:xfrm>
            <a:off x="10332720" y="2011680"/>
            <a:ext cx="640080" cy="640080"/>
          </a:xfrm>
          <a:prstGeom prst="ellipse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4D3"/>
                </a:solidFill>
                <a:latin typeface="Calibri"/>
              </a:defRPr>
            </a:pPr>
            <a:r>
              <a:t>COMMUNICATE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C3"/>
                </a:solidFill>
                <a:latin typeface="Calibri"/>
              </a:defRPr>
            </a:pPr>
            <a:r>
              <a:t>Direct messaging</a:t>
            </a:r>
            <a:br/>
            <a:r>
              <a:t>and plan annotations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698480" cy="182880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DE4D3"/>
                </a:solidFill>
                <a:latin typeface="Calibri"/>
              </a:defRPr>
            </a:pPr>
            <a:r>
              <a:t>Dual-Write Architecture: Changes sync in real-time across all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DE4D3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Coach writes to Supabase immediately (no sync delays)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DE4D3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Athletes see coach feedback and plan changes instantly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DE4D3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Full offline support: log locally, sync when connected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Coach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Stay connected with your athletes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50800"/>
          </a:xfrm>
          <a:prstGeom prst="round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B3D"/>
                </a:solidFill>
                <a:latin typeface="Calibri"/>
              </a:defRPr>
            </a:pPr>
            <a:r>
              <a:t>General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6EB"/>
                </a:solidFill>
                <a:latin typeface="Calibri"/>
              </a:defRPr>
            </a:pPr>
            <a:r>
              <a:t>Direct messaging for</a:t>
            </a:r>
            <a:br/>
            <a:r>
              <a:t>general coaching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3474720" cy="50800"/>
          </a:xfrm>
          <a:prstGeom prst="roundRect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4D3"/>
                </a:solidFill>
                <a:latin typeface="Calibri"/>
              </a:defRPr>
            </a:pPr>
            <a:r>
              <a:t>Activity Comments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6EB"/>
                </a:solidFill>
                <a:latin typeface="Calibri"/>
              </a:defRPr>
            </a:pPr>
            <a:r>
              <a:t>Attach feedback to specific</a:t>
            </a:r>
            <a:br/>
            <a:r>
              <a:t>workouts and training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01168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011680"/>
            <a:ext cx="3474720" cy="50800"/>
          </a:xfrm>
          <a:prstGeom prst="roundRect">
            <a:avLst/>
          </a:prstGeom>
          <a:solidFill>
            <a:srgbClr val="E84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4393"/>
                </a:solidFill>
                <a:latin typeface="Calibri"/>
              </a:defRPr>
            </a:pPr>
            <a:r>
              <a:t>Nutrition Plan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26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8F6EB"/>
                </a:solidFill>
                <a:latin typeface="Calibri"/>
              </a:defRPr>
            </a:pPr>
            <a:r>
              <a:t>Comment on nutrition plans</a:t>
            </a:r>
            <a:br/>
            <a:r>
              <a:t>with specific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Real-time message delivery via Supabase Realtime subscriptions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Read tracking and unread message counts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Cross-device sync across all athlete devices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8B3D"/>
                </a:solidFill>
                <a:latin typeface="Calibri"/>
              </a:rPr>
              <a:t>  </a:t>
            </a:r>
            <a:r>
              <a:rPr sz="1600">
                <a:solidFill>
                  <a:srgbClr val="F8F6EB"/>
                </a:solidFill>
                <a:latin typeface="Calibri"/>
              </a:rPr>
              <a:t>Thread-based conversations organized by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COACH MODE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0" y="3200400"/>
            <a:ext cx="27432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AAC3"/>
                </a:solidFill>
                <a:latin typeface="Calibri"/>
              </a:defRPr>
            </a:pPr>
            <a:r>
              <a:t>Managing athletes as a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Coach dashboard overview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Invite an athlete using athlete 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View athlete's activity and nutrition plan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Add comments and feedback on a plan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Messaging between coach and athlete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What's coming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B3D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18288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Coach / Dietitian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514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B3D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14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Feb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Developing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19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Better Food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918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E4D3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918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Feb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Developing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Critical Usability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069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E4D3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Mar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00600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Race Day Spreadsheet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846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B3D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846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Feb 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77839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23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Meal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6235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393"/>
                </a:solidFill>
                <a:latin typeface="Calibri"/>
              </a:defRPr>
            </a:pPr>
            <a:r>
              <a:t>Cookies*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62355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Apr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97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DE4D3"/>
                </a:solidFill>
                <a:latin typeface="Calibri"/>
              </a:defRPr>
            </a:pPr>
            <a:r>
              <a:t>COMING SOON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240280"/>
            <a:ext cx="1828800" cy="38100"/>
          </a:xfrm>
          <a:prstGeom prst="rect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2468880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Personal Fueling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514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B3D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2514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Mar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Not started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246119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291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Payment Infrastructure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2918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E4D3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32918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Mar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5661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Not started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023360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Other Platform Integrations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4069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B3D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4069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Mar 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Not started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800600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Gamification &amp; Rewards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846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DE4D3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4846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Apr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Not started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5577839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56235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Fueling Knowledge Gap Content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56235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B3D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562355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Ship: Apr 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897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C3"/>
                </a:solidFill>
                <a:latin typeface="Calibri"/>
              </a:defRPr>
            </a:pPr>
            <a:r>
              <a:t>Not started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AAC3"/>
                </a:solidFill>
                <a:latin typeface="Calibri"/>
              </a:defRPr>
            </a:pPr>
            <a:r>
              <a:t>*Cookies = token-based premium feature  |  Timeline subject to change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Coming Soon: Food Logging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AI-powered daily nutrition tracking</a:t>
            </a:r>
          </a:p>
        </p:txBody>
      </p:sp>
      <p:pic>
        <p:nvPicPr>
          <p:cNvPr id="5" name="Picture 4" descr="f_new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1680"/>
            <a:ext cx="2743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17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DE4D3"/>
                </a:solidFill>
                <a:latin typeface="Calibri"/>
              </a:defRPr>
            </a:pPr>
            <a:r>
              <a:t>Activities View</a:t>
            </a:r>
          </a:p>
        </p:txBody>
      </p:sp>
      <p:pic>
        <p:nvPicPr>
          <p:cNvPr id="7" name="Picture 6" descr="f_new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11680"/>
            <a:ext cx="2743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6217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DE4D3"/>
                </a:solidFill>
                <a:latin typeface="Calibri"/>
              </a:defRPr>
            </a:pPr>
            <a:r>
              <a:t>Nutrition Diary</a:t>
            </a:r>
          </a:p>
        </p:txBody>
      </p:sp>
      <p:pic>
        <p:nvPicPr>
          <p:cNvPr id="9" name="Picture 8" descr="f_new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011680"/>
            <a:ext cx="27432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6217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DE4D3"/>
                </a:solidFill>
                <a:latin typeface="Calibri"/>
              </a:defRPr>
            </a:pPr>
            <a:r>
              <a:t>AI Food Logger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Food Logging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Multiple ways to track nutrition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19072"/>
            <a:ext cx="109728" cy="109728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B3D"/>
                </a:solidFill>
                <a:latin typeface="Calibri"/>
              </a:defRPr>
            </a:pPr>
            <a:r>
              <a:t>AI Text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Type "grilled chicken 6oz with rice" and AI parses it into structured food items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23744"/>
            <a:ext cx="109728" cy="109728"/>
          </a:xfrm>
          <a:prstGeom prst="ellipse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DE4D3"/>
                </a:solidFill>
                <a:latin typeface="Calibri"/>
              </a:defRPr>
            </a:pPr>
            <a:r>
              <a:t>AI Photo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Take a photo of your plate and AI identifies foods and estimates portions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28416"/>
            <a:ext cx="109728" cy="109728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82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B3D"/>
                </a:solidFill>
                <a:latin typeface="Calibri"/>
              </a:defRPr>
            </a:pPr>
            <a:r>
              <a:t>Barcode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8386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Scan product barcodes for instant nutrition data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09728" cy="109728"/>
          </a:xfrm>
          <a:prstGeom prst="ellipse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986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DE4D3"/>
                </a:solidFill>
                <a:latin typeface="Calibri"/>
              </a:defRPr>
            </a:pPr>
            <a:r>
              <a:t>Database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88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Search 100+ foods from our curated database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37760"/>
            <a:ext cx="109728" cy="109728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791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B3D"/>
                </a:solidFill>
                <a:latin typeface="Calibri"/>
              </a:defRPr>
            </a:pPr>
            <a:r>
              <a:t>Daily Macro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932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Track Calories, Carbs, Protein, Fat, Sodium &amp; Hydration at a glance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742432"/>
            <a:ext cx="109728" cy="109728"/>
          </a:xfrm>
          <a:prstGeom prst="ellipse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596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DE4D3"/>
                </a:solidFill>
                <a:latin typeface="Calibri"/>
              </a:defRPr>
            </a:pPr>
            <a:r>
              <a:t>Timeline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897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AAC3"/>
                </a:solidFill>
                <a:latin typeface="Calibri"/>
              </a:defRPr>
            </a:pPr>
            <a:r>
              <a:t>Meals mixed chronologically with activities for a complete daily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Coming Soon: Race Day Spreadsheet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Replace manual spreadsheets with smart race 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Coaches currently use spreadsheets to plan race day nutrition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Mealvana replicates this function with better convenience and accuracy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Automatically calculated based on race distance, pace, and conditions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Easy to share with athletes through the coach portal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8B3D"/>
                </a:solidFill>
                <a:latin typeface="Calibri"/>
              </a:rPr>
              <a:t>  </a:t>
            </a:r>
            <a:r>
              <a:rPr sz="1800">
                <a:solidFill>
                  <a:srgbClr val="F8F6EB"/>
                </a:solidFill>
                <a:latin typeface="Calibri"/>
              </a:rPr>
              <a:t>Design currently in progress - prototype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029200"/>
            <a:ext cx="6675120" cy="109728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52120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4D3"/>
                </a:solidFill>
                <a:latin typeface="Calibri"/>
              </a:defRPr>
            </a:pPr>
            <a:r>
              <a:t>Figma Prototype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56235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AAC3"/>
                </a:solidFill>
                <a:latin typeface="Calibri"/>
              </a:defRPr>
            </a:pPr>
            <a:r>
              <a:t>We'd love your feedback on the race day nutrition design!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Preview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Additional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AAC3"/>
                </a:solidFill>
                <a:latin typeface="Calibri"/>
              </a:defRPr>
            </a:pPr>
            <a:r>
              <a:t>[Add your Figma designs or screenshots here]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411480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Preview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Additional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AAC3"/>
                </a:solidFill>
                <a:latin typeface="Calibri"/>
              </a:defRPr>
            </a:pPr>
            <a:r>
              <a:t>[Add your Figma designs or screenshots here]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4114800"/>
          </a:xfrm>
          <a:prstGeom prst="roundRect">
            <a:avLst>
              <a:gd name="adj" fmla="val 3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Payment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AAC3"/>
                </a:solidFill>
                <a:latin typeface="Calibri"/>
              </a:defRPr>
            </a:pPr>
            <a:r>
              <a:t>Simple, fair pricing for athletes and coaches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B3D"/>
                </a:solidFill>
                <a:latin typeface="Calibri"/>
              </a:defRPr>
            </a:pPr>
            <a:r>
              <a:t>ATHLETE 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$19.99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AAC3"/>
                </a:solidFill>
                <a:latin typeface="Calibri"/>
              </a:defRPr>
            </a:pPr>
            <a:r>
              <a:t>per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8B3D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All nutrition plan features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8B3D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Training Peaks &amp; Final Surge sync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8B3D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Food preference personalization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8B3D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Offline-first mobile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4A2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DE4D3"/>
                </a:solidFill>
                <a:latin typeface="Calibri"/>
              </a:defRPr>
            </a:pPr>
            <a:r>
              <a:t>COACH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$20 - $50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566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C3"/>
                </a:solidFill>
                <a:latin typeface="Calibri"/>
              </a:defRPr>
            </a:pPr>
            <a:r>
              <a:t>per month (based on athlete count)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DE4D3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Starter: $20/mo (up to 20 athletes)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DE4D3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Pro: $50/mo (unlimited athletes)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DE4D3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Full dashboard &amp; analytics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DE4D3"/>
                </a:solidFill>
                <a:latin typeface="Calibri"/>
              </a:rPr>
              <a:t>  </a:t>
            </a:r>
            <a:r>
              <a:rPr sz="1400">
                <a:solidFill>
                  <a:srgbClr val="F8F6EB"/>
                </a:solidFill>
                <a:latin typeface="Calibri"/>
              </a:rPr>
              <a:t>Messaging &amp; plan annotations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AAC3"/>
                </a:solidFill>
                <a:latin typeface="Calibri"/>
              </a:defRPr>
            </a:pPr>
            <a:r>
              <a:t>Exploring options outside Apple App Store for more flexible coach billing (Stripe)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JOIN OUR PILOT COACHES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691640"/>
            <a:ext cx="3931920" cy="38100"/>
          </a:xfrm>
          <a:prstGeom prst="rect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663440" y="2103120"/>
            <a:ext cx="2834640" cy="2834640"/>
          </a:xfrm>
          <a:prstGeom prst="ellipse">
            <a:avLst/>
          </a:prstGeom>
          <a:solidFill>
            <a:srgbClr val="FF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0" y="2560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4D3"/>
                </a:solidFill>
                <a:latin typeface="Calibri"/>
              </a:defRPr>
            </a:pPr>
            <a:r>
              <a:t>What Pilot Coaches Get: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57784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FF8B3D"/>
                </a:solidFill>
                <a:latin typeface="Calibri"/>
              </a:rPr>
              <a:t>  </a:t>
            </a:r>
            <a:r>
              <a:rPr sz="1500">
                <a:solidFill>
                  <a:srgbClr val="F8F6EB"/>
                </a:solidFill>
                <a:latin typeface="Calibri"/>
              </a:rPr>
              <a:t>30% discount on coach subscription for the first year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8B3D"/>
                </a:solidFill>
                <a:latin typeface="Calibri"/>
              </a:rPr>
              <a:t>  </a:t>
            </a:r>
            <a:r>
              <a:rPr sz="1500">
                <a:solidFill>
                  <a:srgbClr val="F8F6EB"/>
                </a:solidFill>
                <a:latin typeface="Calibri"/>
              </a:rPr>
              <a:t>Early access to new features before public release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8B3D"/>
                </a:solidFill>
                <a:latin typeface="Calibri"/>
              </a:rPr>
              <a:t>  </a:t>
            </a:r>
            <a:r>
              <a:rPr sz="1500">
                <a:solidFill>
                  <a:srgbClr val="F8F6EB"/>
                </a:solidFill>
                <a:latin typeface="Calibri"/>
              </a:rPr>
              <a:t>Direct line to the development team for feedback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8B3D"/>
                </a:solidFill>
                <a:latin typeface="Calibri"/>
              </a:rPr>
              <a:t>  </a:t>
            </a:r>
            <a:r>
              <a:rPr sz="1500">
                <a:solidFill>
                  <a:srgbClr val="F8F6EB"/>
                </a:solidFill>
                <a:latin typeface="Calibri"/>
              </a:rPr>
              <a:t>Shape the product roadmap with your coaching expertise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FF8B3D"/>
                </a:solidFill>
                <a:latin typeface="Calibri"/>
              </a:rPr>
              <a:t>  </a:t>
            </a:r>
            <a:r>
              <a:rPr sz="1500">
                <a:solidFill>
                  <a:srgbClr val="F8F6EB"/>
                </a:solidFill>
                <a:latin typeface="Calibri"/>
              </a:rPr>
              <a:t>Priority support and onboarding assistance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5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durance_welco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2103120" cy="2103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4114800"/>
            <a:ext cx="2743200" cy="38100"/>
          </a:xfrm>
          <a:prstGeom prst="rect">
            <a:avLst/>
          </a:prstGeom>
          <a:solidFill>
            <a:srgbClr val="5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DE4D3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B3D"/>
                </a:solidFill>
                <a:latin typeface="Calibri"/>
              </a:defRPr>
            </a:pPr>
            <a:r>
              <a:t>MEALVANA ENDURANCE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C3"/>
                </a:solidFill>
                <a:latin typeface="Calibri"/>
              </a:defRPr>
            </a:pPr>
            <a:r>
              <a:t>Science-Based Nutrition for Endurance Athletes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AAC3"/>
                </a:solidFill>
                <a:latin typeface="Calibri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