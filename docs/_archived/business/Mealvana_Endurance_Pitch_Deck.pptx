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D1F4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144000" cy="914400"/>
          </a:xfrm>
          <a:prstGeom prst="rect">
            <a:avLst/>
          </a:prstGeom>
          <a:noFill/>
        </p:spPr>
        <p:txBody>
          <a:bodyPr wrap="square">
            <a:spAutoFit/>
          </a:bodyPr>
          <a:lstStyle/>
          <a:p>
            <a:pPr algn="l">
              <a:lnSpc>
                <a:spcPts val="1920"/>
              </a:lnSpc>
              <a:spcAft>
                <a:spcPts val="0"/>
              </a:spcAft>
              <a:defRPr sz="1600" b="0">
                <a:solidFill>
                  <a:srgbClr val="5DE4D3"/>
                </a:solidFill>
                <a:latin typeface="Calibri"/>
              </a:defRPr>
            </a:pPr>
            <a:r>
              <a:t>MEALVANA ENDURANCE</a:t>
            </a:r>
          </a:p>
        </p:txBody>
      </p:sp>
      <p:sp>
        <p:nvSpPr>
          <p:cNvPr id="4" name="TextBox 3"/>
          <p:cNvSpPr txBox="1"/>
          <p:nvPr/>
        </p:nvSpPr>
        <p:spPr>
          <a:xfrm>
            <a:off x="1371600" y="2286000"/>
            <a:ext cx="9144000" cy="1828800"/>
          </a:xfrm>
          <a:prstGeom prst="rect">
            <a:avLst/>
          </a:prstGeom>
          <a:noFill/>
        </p:spPr>
        <p:txBody>
          <a:bodyPr wrap="square">
            <a:spAutoFit/>
          </a:bodyPr>
          <a:lstStyle/>
          <a:p>
            <a:pPr algn="l">
              <a:lnSpc>
                <a:spcPts val="5759"/>
              </a:lnSpc>
              <a:spcAft>
                <a:spcPts val="0"/>
              </a:spcAft>
              <a:defRPr sz="4800" b="1">
                <a:solidFill>
                  <a:srgbClr val="FFFFFF"/>
                </a:solidFill>
                <a:latin typeface="Calibri"/>
              </a:defRPr>
            </a:pPr>
            <a:r>
              <a:t>The Nutrition Intelligence</a:t>
            </a:r>
            <a:br/>
            <a:r>
              <a:t>Layer for Endurance Sports</a:t>
            </a:r>
          </a:p>
        </p:txBody>
      </p:sp>
      <p:sp>
        <p:nvSpPr>
          <p:cNvPr id="5" name="Rectangle 4"/>
          <p:cNvSpPr/>
          <p:nvPr/>
        </p:nvSpPr>
        <p:spPr>
          <a:xfrm>
            <a:off x="1371600" y="4389120"/>
            <a:ext cx="1097280" cy="5080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663440"/>
            <a:ext cx="9144000" cy="731520"/>
          </a:xfrm>
          <a:prstGeom prst="rect">
            <a:avLst/>
          </a:prstGeom>
          <a:noFill/>
        </p:spPr>
        <p:txBody>
          <a:bodyPr wrap="square">
            <a:spAutoFit/>
          </a:bodyPr>
          <a:lstStyle/>
          <a:p>
            <a:pPr algn="l">
              <a:lnSpc>
                <a:spcPts val="2400"/>
              </a:lnSpc>
              <a:spcAft>
                <a:spcPts val="0"/>
              </a:spcAft>
              <a:defRPr sz="2000" b="0">
                <a:solidFill>
                  <a:srgbClr val="F5F3ED"/>
                </a:solidFill>
                <a:latin typeface="Calibri"/>
              </a:defRPr>
            </a:pPr>
            <a:r>
              <a:t>AI-powered, personalized nutrition planning for runners, cyclists, and triathletes.</a:t>
            </a:r>
          </a:p>
        </p:txBody>
      </p:sp>
      <p:sp>
        <p:nvSpPr>
          <p:cNvPr id="7" name="TextBox 6"/>
          <p:cNvSpPr txBox="1"/>
          <p:nvPr/>
        </p:nvSpPr>
        <p:spPr>
          <a:xfrm>
            <a:off x="1371600" y="5669280"/>
            <a:ext cx="9144000" cy="457200"/>
          </a:xfrm>
          <a:prstGeom prst="rect">
            <a:avLst/>
          </a:prstGeom>
          <a:noFill/>
        </p:spPr>
        <p:txBody>
          <a:bodyPr wrap="square">
            <a:spAutoFit/>
          </a:bodyPr>
          <a:lstStyle/>
          <a:p>
            <a:pPr algn="l">
              <a:lnSpc>
                <a:spcPts val="1680"/>
              </a:lnSpc>
              <a:spcAft>
                <a:spcPts val="0"/>
              </a:spcAft>
              <a:defRPr sz="1400" b="0">
                <a:solidFill>
                  <a:srgbClr val="CCCCCC"/>
                </a:solidFill>
                <a:latin typeface="Calibri"/>
              </a:defRPr>
            </a:pPr>
            <a:r>
              <a:t>Xuan Huang, CEO  |  Lee Martin, CTO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48640"/>
            <a:ext cx="2743200" cy="45720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THE PROBLEM</a:t>
            </a:r>
          </a:p>
        </p:txBody>
      </p:sp>
      <p:sp>
        <p:nvSpPr>
          <p:cNvPr id="4" name="TextBox 3"/>
          <p:cNvSpPr txBox="1"/>
          <p:nvPr/>
        </p:nvSpPr>
        <p:spPr>
          <a:xfrm>
            <a:off x="1097280" y="1005840"/>
            <a:ext cx="9144000" cy="1097280"/>
          </a:xfrm>
          <a:prstGeom prst="rect">
            <a:avLst/>
          </a:prstGeom>
          <a:noFill/>
        </p:spPr>
        <p:txBody>
          <a:bodyPr wrap="square">
            <a:spAutoFit/>
          </a:bodyPr>
          <a:lstStyle/>
          <a:p>
            <a:pPr algn="l">
              <a:lnSpc>
                <a:spcPts val="4320"/>
              </a:lnSpc>
              <a:spcAft>
                <a:spcPts val="0"/>
              </a:spcAft>
              <a:defRPr sz="3600" b="1">
                <a:solidFill>
                  <a:srgbClr val="3D1F47"/>
                </a:solidFill>
                <a:latin typeface="Calibri"/>
              </a:defRPr>
            </a:pPr>
            <a:r>
              <a:t>Endurance athletes don't know what to eat,</a:t>
            </a:r>
            <a:br/>
            <a:r>
              <a:t>when to eat it, or how much.</a:t>
            </a:r>
          </a:p>
        </p:txBody>
      </p:sp>
      <p:sp>
        <p:nvSpPr>
          <p:cNvPr id="5" name="Rectangle 4"/>
          <p:cNvSpPr/>
          <p:nvPr/>
        </p:nvSpPr>
        <p:spPr>
          <a:xfrm>
            <a:off x="1097280" y="2286000"/>
            <a:ext cx="731520" cy="3810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2926080"/>
            <a:ext cx="2377440" cy="2926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91840"/>
            <a:ext cx="1828800" cy="731520"/>
          </a:xfrm>
          <a:prstGeom prst="rect">
            <a:avLst/>
          </a:prstGeom>
          <a:noFill/>
        </p:spPr>
        <p:txBody>
          <a:bodyPr wrap="square">
            <a:spAutoFit/>
          </a:bodyPr>
          <a:lstStyle/>
          <a:p>
            <a:pPr algn="l">
              <a:lnSpc>
                <a:spcPts val="4320"/>
              </a:lnSpc>
              <a:spcAft>
                <a:spcPts val="0"/>
              </a:spcAft>
              <a:defRPr sz="3600" b="1">
                <a:solidFill>
                  <a:srgbClr val="FF8B3D"/>
                </a:solidFill>
                <a:latin typeface="Calibri"/>
              </a:defRPr>
            </a:pPr>
            <a:r>
              <a:t>30-50%</a:t>
            </a:r>
          </a:p>
        </p:txBody>
      </p:sp>
      <p:sp>
        <p:nvSpPr>
          <p:cNvPr id="8" name="TextBox 7"/>
          <p:cNvSpPr txBox="1"/>
          <p:nvPr/>
        </p:nvSpPr>
        <p:spPr>
          <a:xfrm>
            <a:off x="1371600" y="4206240"/>
            <a:ext cx="1828800" cy="914400"/>
          </a:xfrm>
          <a:prstGeom prst="rect">
            <a:avLst/>
          </a:prstGeom>
          <a:noFill/>
        </p:spPr>
        <p:txBody>
          <a:bodyPr wrap="square">
            <a:spAutoFit/>
          </a:bodyPr>
          <a:lstStyle/>
          <a:p>
            <a:pPr algn="l">
              <a:lnSpc>
                <a:spcPts val="1920"/>
              </a:lnSpc>
              <a:spcAft>
                <a:spcPts val="0"/>
              </a:spcAft>
              <a:defRPr sz="1600" b="0">
                <a:solidFill>
                  <a:srgbClr val="381633"/>
                </a:solidFill>
                <a:latin typeface="Calibri"/>
              </a:defRPr>
            </a:pPr>
            <a:r>
              <a:t>of marathon runners</a:t>
            </a:r>
            <a:br/>
            <a:r>
              <a:t>experience GI distress</a:t>
            </a:r>
          </a:p>
        </p:txBody>
      </p:sp>
      <p:sp>
        <p:nvSpPr>
          <p:cNvPr id="9" name="TextBox 8"/>
          <p:cNvSpPr txBox="1"/>
          <p:nvPr/>
        </p:nvSpPr>
        <p:spPr>
          <a:xfrm>
            <a:off x="1371600" y="5212080"/>
            <a:ext cx="1828800" cy="365760"/>
          </a:xfrm>
          <a:prstGeom prst="rect">
            <a:avLst/>
          </a:prstGeom>
          <a:noFill/>
        </p:spPr>
        <p:txBody>
          <a:bodyPr wrap="square">
            <a:spAutoFit/>
          </a:bodyPr>
          <a:lstStyle/>
          <a:p>
            <a:pPr algn="l">
              <a:lnSpc>
                <a:spcPts val="1320"/>
              </a:lnSpc>
              <a:spcAft>
                <a:spcPts val="0"/>
              </a:spcAft>
              <a:defRPr sz="1100" b="0">
                <a:solidFill>
                  <a:srgbClr val="999999"/>
                </a:solidFill>
                <a:latin typeface="Calibri"/>
              </a:defRPr>
            </a:pPr>
            <a:r>
              <a:t>ACSM</a:t>
            </a:r>
          </a:p>
        </p:txBody>
      </p:sp>
      <p:sp>
        <p:nvSpPr>
          <p:cNvPr id="10" name="Rectangle 9"/>
          <p:cNvSpPr/>
          <p:nvPr/>
        </p:nvSpPr>
        <p:spPr>
          <a:xfrm>
            <a:off x="3749039" y="2926080"/>
            <a:ext cx="2377440" cy="2926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59" y="3291840"/>
            <a:ext cx="1828800" cy="731520"/>
          </a:xfrm>
          <a:prstGeom prst="rect">
            <a:avLst/>
          </a:prstGeom>
          <a:noFill/>
        </p:spPr>
        <p:txBody>
          <a:bodyPr wrap="square">
            <a:spAutoFit/>
          </a:bodyPr>
          <a:lstStyle/>
          <a:p>
            <a:pPr algn="l">
              <a:lnSpc>
                <a:spcPts val="4320"/>
              </a:lnSpc>
              <a:spcAft>
                <a:spcPts val="0"/>
              </a:spcAft>
              <a:defRPr sz="3600" b="1">
                <a:solidFill>
                  <a:srgbClr val="FF8B3D"/>
                </a:solidFill>
                <a:latin typeface="Calibri"/>
              </a:defRPr>
            </a:pPr>
            <a:r>
              <a:t>10-20%</a:t>
            </a:r>
          </a:p>
        </p:txBody>
      </p:sp>
      <p:sp>
        <p:nvSpPr>
          <p:cNvPr id="12" name="TextBox 11"/>
          <p:cNvSpPr txBox="1"/>
          <p:nvPr/>
        </p:nvSpPr>
        <p:spPr>
          <a:xfrm>
            <a:off x="4023359" y="4206240"/>
            <a:ext cx="1828800" cy="914400"/>
          </a:xfrm>
          <a:prstGeom prst="rect">
            <a:avLst/>
          </a:prstGeom>
          <a:noFill/>
        </p:spPr>
        <p:txBody>
          <a:bodyPr wrap="square">
            <a:spAutoFit/>
          </a:bodyPr>
          <a:lstStyle/>
          <a:p>
            <a:pPr algn="l">
              <a:lnSpc>
                <a:spcPts val="1920"/>
              </a:lnSpc>
              <a:spcAft>
                <a:spcPts val="0"/>
              </a:spcAft>
              <a:defRPr sz="1600" b="0">
                <a:solidFill>
                  <a:srgbClr val="381633"/>
                </a:solidFill>
                <a:latin typeface="Calibri"/>
              </a:defRPr>
            </a:pPr>
            <a:r>
              <a:t>performance loss from</a:t>
            </a:r>
            <a:br/>
            <a:r>
              <a:t>inadequate fueling</a:t>
            </a:r>
          </a:p>
        </p:txBody>
      </p:sp>
      <p:sp>
        <p:nvSpPr>
          <p:cNvPr id="13" name="TextBox 12"/>
          <p:cNvSpPr txBox="1"/>
          <p:nvPr/>
        </p:nvSpPr>
        <p:spPr>
          <a:xfrm>
            <a:off x="4023359" y="5212080"/>
            <a:ext cx="1828800" cy="365760"/>
          </a:xfrm>
          <a:prstGeom prst="rect">
            <a:avLst/>
          </a:prstGeom>
          <a:noFill/>
        </p:spPr>
        <p:txBody>
          <a:bodyPr wrap="square">
            <a:spAutoFit/>
          </a:bodyPr>
          <a:lstStyle/>
          <a:p>
            <a:pPr algn="l">
              <a:lnSpc>
                <a:spcPts val="1320"/>
              </a:lnSpc>
              <a:spcAft>
                <a:spcPts val="0"/>
              </a:spcAft>
              <a:defRPr sz="1100" b="0">
                <a:solidFill>
                  <a:srgbClr val="999999"/>
                </a:solidFill>
                <a:latin typeface="Calibri"/>
              </a:defRPr>
            </a:pPr>
            <a:r>
              <a:t>Research</a:t>
            </a:r>
          </a:p>
        </p:txBody>
      </p:sp>
      <p:sp>
        <p:nvSpPr>
          <p:cNvPr id="14" name="Rectangle 13"/>
          <p:cNvSpPr/>
          <p:nvPr/>
        </p:nvSpPr>
        <p:spPr>
          <a:xfrm>
            <a:off x="6400800" y="2926080"/>
            <a:ext cx="2377440" cy="2926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3291840"/>
            <a:ext cx="1828800" cy="731520"/>
          </a:xfrm>
          <a:prstGeom prst="rect">
            <a:avLst/>
          </a:prstGeom>
          <a:noFill/>
        </p:spPr>
        <p:txBody>
          <a:bodyPr wrap="square">
            <a:spAutoFit/>
          </a:bodyPr>
          <a:lstStyle/>
          <a:p>
            <a:pPr algn="l">
              <a:lnSpc>
                <a:spcPts val="4320"/>
              </a:lnSpc>
              <a:spcAft>
                <a:spcPts val="0"/>
              </a:spcAft>
              <a:defRPr sz="3600" b="1">
                <a:solidFill>
                  <a:srgbClr val="FF8B3D"/>
                </a:solidFill>
                <a:latin typeface="Calibri"/>
              </a:defRPr>
            </a:pPr>
            <a:r>
              <a:t>$100-300+</a:t>
            </a:r>
          </a:p>
        </p:txBody>
      </p:sp>
      <p:sp>
        <p:nvSpPr>
          <p:cNvPr id="16" name="TextBox 15"/>
          <p:cNvSpPr txBox="1"/>
          <p:nvPr/>
        </p:nvSpPr>
        <p:spPr>
          <a:xfrm>
            <a:off x="6675120" y="4206240"/>
            <a:ext cx="1828800" cy="914400"/>
          </a:xfrm>
          <a:prstGeom prst="rect">
            <a:avLst/>
          </a:prstGeom>
          <a:noFill/>
        </p:spPr>
        <p:txBody>
          <a:bodyPr wrap="square">
            <a:spAutoFit/>
          </a:bodyPr>
          <a:lstStyle/>
          <a:p>
            <a:pPr algn="l">
              <a:lnSpc>
                <a:spcPts val="1920"/>
              </a:lnSpc>
              <a:spcAft>
                <a:spcPts val="0"/>
              </a:spcAft>
              <a:defRPr sz="1600" b="0">
                <a:solidFill>
                  <a:srgbClr val="381633"/>
                </a:solidFill>
                <a:latin typeface="Calibri"/>
              </a:defRPr>
            </a:pPr>
            <a:r>
              <a:t>wasted per race from</a:t>
            </a:r>
            <a:br/>
            <a:r>
              <a:t>nutrition mistakes</a:t>
            </a:r>
          </a:p>
        </p:txBody>
      </p:sp>
      <p:sp>
        <p:nvSpPr>
          <p:cNvPr id="17" name="TextBox 16"/>
          <p:cNvSpPr txBox="1"/>
          <p:nvPr/>
        </p:nvSpPr>
        <p:spPr>
          <a:xfrm>
            <a:off x="6675120" y="5212080"/>
            <a:ext cx="1828800" cy="365760"/>
          </a:xfrm>
          <a:prstGeom prst="rect">
            <a:avLst/>
          </a:prstGeom>
          <a:noFill/>
        </p:spPr>
        <p:txBody>
          <a:bodyPr wrap="square">
            <a:spAutoFit/>
          </a:bodyPr>
          <a:lstStyle/>
          <a:p>
            <a:pPr algn="l">
              <a:lnSpc>
                <a:spcPts val="1320"/>
              </a:lnSpc>
              <a:spcAft>
                <a:spcPts val="0"/>
              </a:spcAft>
              <a:defRPr sz="1100" b="0">
                <a:solidFill>
                  <a:srgbClr val="999999"/>
                </a:solidFill>
                <a:latin typeface="Calibri"/>
              </a:defRPr>
            </a:pPr>
            <a:r>
              <a:t>Entry fees + travel</a:t>
            </a:r>
          </a:p>
        </p:txBody>
      </p:sp>
      <p:sp>
        <p:nvSpPr>
          <p:cNvPr id="18" name="Rectangle 17"/>
          <p:cNvSpPr/>
          <p:nvPr/>
        </p:nvSpPr>
        <p:spPr>
          <a:xfrm>
            <a:off x="9052559" y="2926080"/>
            <a:ext cx="2377440" cy="2926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9" y="3291840"/>
            <a:ext cx="1828800" cy="731520"/>
          </a:xfrm>
          <a:prstGeom prst="rect">
            <a:avLst/>
          </a:prstGeom>
          <a:noFill/>
        </p:spPr>
        <p:txBody>
          <a:bodyPr wrap="square">
            <a:spAutoFit/>
          </a:bodyPr>
          <a:lstStyle/>
          <a:p>
            <a:pPr algn="l">
              <a:lnSpc>
                <a:spcPts val="4320"/>
              </a:lnSpc>
              <a:spcAft>
                <a:spcPts val="0"/>
              </a:spcAft>
              <a:defRPr sz="3600" b="1">
                <a:solidFill>
                  <a:srgbClr val="FF8B3D"/>
                </a:solidFill>
                <a:latin typeface="Calibri"/>
              </a:defRPr>
            </a:pPr>
            <a:r>
              <a:t>0</a:t>
            </a:r>
          </a:p>
        </p:txBody>
      </p:sp>
      <p:sp>
        <p:nvSpPr>
          <p:cNvPr id="20" name="TextBox 19"/>
          <p:cNvSpPr txBox="1"/>
          <p:nvPr/>
        </p:nvSpPr>
        <p:spPr>
          <a:xfrm>
            <a:off x="9326879" y="4206240"/>
            <a:ext cx="1828800" cy="914400"/>
          </a:xfrm>
          <a:prstGeom prst="rect">
            <a:avLst/>
          </a:prstGeom>
          <a:noFill/>
        </p:spPr>
        <p:txBody>
          <a:bodyPr wrap="square">
            <a:spAutoFit/>
          </a:bodyPr>
          <a:lstStyle/>
          <a:p>
            <a:pPr algn="l">
              <a:lnSpc>
                <a:spcPts val="1920"/>
              </a:lnSpc>
              <a:spcAft>
                <a:spcPts val="0"/>
              </a:spcAft>
              <a:defRPr sz="1600" b="0">
                <a:solidFill>
                  <a:srgbClr val="381633"/>
                </a:solidFill>
                <a:latin typeface="Calibri"/>
              </a:defRPr>
            </a:pPr>
            <a:r>
              <a:t>personalized race-day</a:t>
            </a:r>
            <a:br/>
            <a:r>
              <a:t>nutrition tools exist</a:t>
            </a:r>
          </a:p>
        </p:txBody>
      </p:sp>
      <p:sp>
        <p:nvSpPr>
          <p:cNvPr id="21" name="TextBox 20"/>
          <p:cNvSpPr txBox="1"/>
          <p:nvPr/>
        </p:nvSpPr>
        <p:spPr>
          <a:xfrm>
            <a:off x="9326879" y="5212080"/>
            <a:ext cx="1828800" cy="365760"/>
          </a:xfrm>
          <a:prstGeom prst="rect">
            <a:avLst/>
          </a:prstGeom>
          <a:noFill/>
        </p:spPr>
        <p:txBody>
          <a:bodyPr wrap="square">
            <a:spAutoFit/>
          </a:bodyPr>
          <a:lstStyle/>
          <a:p>
            <a:pPr algn="l">
              <a:lnSpc>
                <a:spcPts val="1320"/>
              </a:lnSpc>
              <a:spcAft>
                <a:spcPts val="0"/>
              </a:spcAft>
              <a:defRPr sz="1100" b="0">
                <a:solidFill>
                  <a:srgbClr val="999999"/>
                </a:solidFill>
                <a:latin typeface="Calibri"/>
              </a:defRPr>
            </a:pPr>
            <a:r>
              <a:t>Market gap</a:t>
            </a:r>
          </a:p>
        </p:txBody>
      </p:sp>
      <p:sp>
        <p:nvSpPr>
          <p:cNvPr id="22" name="TextBox 21"/>
          <p:cNvSpPr txBox="1"/>
          <p:nvPr/>
        </p:nvSpPr>
        <p:spPr>
          <a:xfrm>
            <a:off x="11338560" y="6400800"/>
            <a:ext cx="731520" cy="365760"/>
          </a:xfrm>
          <a:prstGeom prst="rect">
            <a:avLst/>
          </a:prstGeom>
          <a:noFill/>
        </p:spPr>
        <p:txBody>
          <a:bodyPr wrap="square">
            <a:spAutoFit/>
          </a:bodyPr>
          <a:lstStyle/>
          <a:p>
            <a:pPr algn="r">
              <a:lnSpc>
                <a:spcPts val="1200"/>
              </a:lnSpc>
              <a:spcAft>
                <a:spcPts val="0"/>
              </a:spcAft>
              <a:defRPr sz="1000" b="0">
                <a:solidFill>
                  <a:srgbClr val="CCCCCC"/>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3D1F4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48640"/>
            <a:ext cx="2743200" cy="45720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THE SOLUTION</a:t>
            </a:r>
          </a:p>
        </p:txBody>
      </p:sp>
      <p:sp>
        <p:nvSpPr>
          <p:cNvPr id="4" name="TextBox 3"/>
          <p:cNvSpPr txBox="1"/>
          <p:nvPr/>
        </p:nvSpPr>
        <p:spPr>
          <a:xfrm>
            <a:off x="1097280" y="1005840"/>
            <a:ext cx="9144000" cy="1097280"/>
          </a:xfrm>
          <a:prstGeom prst="rect">
            <a:avLst/>
          </a:prstGeom>
          <a:noFill/>
        </p:spPr>
        <p:txBody>
          <a:bodyPr wrap="square">
            <a:spAutoFit/>
          </a:bodyPr>
          <a:lstStyle/>
          <a:p>
            <a:pPr algn="l">
              <a:lnSpc>
                <a:spcPts val="4320"/>
              </a:lnSpc>
              <a:spcAft>
                <a:spcPts val="0"/>
              </a:spcAft>
              <a:defRPr sz="3600" b="1">
                <a:solidFill>
                  <a:srgbClr val="FFFFFF"/>
                </a:solidFill>
                <a:latin typeface="Calibri"/>
              </a:defRPr>
            </a:pPr>
            <a:r>
              <a:t>Personalized, science-based nutrition plans</a:t>
            </a:r>
            <a:br/>
            <a:r>
              <a:t>generated by AI in seconds.</a:t>
            </a:r>
          </a:p>
        </p:txBody>
      </p:sp>
      <p:sp>
        <p:nvSpPr>
          <p:cNvPr id="5" name="Rectangle 4"/>
          <p:cNvSpPr/>
          <p:nvPr/>
        </p:nvSpPr>
        <p:spPr>
          <a:xfrm>
            <a:off x="1097280" y="2286000"/>
            <a:ext cx="731520" cy="38100"/>
          </a:xfrm>
          <a:prstGeom prst="rect">
            <a:avLst/>
          </a:prstGeom>
          <a:solidFill>
            <a:srgbClr val="5D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926080"/>
            <a:ext cx="3108960" cy="457200"/>
          </a:xfrm>
          <a:prstGeom prst="rect">
            <a:avLst/>
          </a:prstGeom>
          <a:noFill/>
        </p:spPr>
        <p:txBody>
          <a:bodyPr wrap="square">
            <a:spAutoFit/>
          </a:bodyPr>
          <a:lstStyle/>
          <a:p>
            <a:pPr algn="l">
              <a:lnSpc>
                <a:spcPts val="2400"/>
              </a:lnSpc>
              <a:spcAft>
                <a:spcPts val="0"/>
              </a:spcAft>
              <a:defRPr sz="2000" b="1">
                <a:solidFill>
                  <a:srgbClr val="5DE4D3"/>
                </a:solidFill>
                <a:latin typeface="Calibri"/>
              </a:defRPr>
            </a:pPr>
            <a:r>
              <a:t>For Athletes</a:t>
            </a:r>
          </a:p>
        </p:txBody>
      </p:sp>
      <p:sp>
        <p:nvSpPr>
          <p:cNvPr id="7" name="TextBox 6"/>
          <p:cNvSpPr txBox="1"/>
          <p:nvPr/>
        </p:nvSpPr>
        <p:spPr>
          <a:xfrm>
            <a:off x="1097280" y="347472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AI-generated race-day fueling plans</a:t>
            </a:r>
          </a:p>
        </p:txBody>
      </p:sp>
      <p:sp>
        <p:nvSpPr>
          <p:cNvPr id="8" name="TextBox 7"/>
          <p:cNvSpPr txBox="1"/>
          <p:nvPr/>
        </p:nvSpPr>
        <p:spPr>
          <a:xfrm>
            <a:off x="1097280" y="397764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Pre / during / post workout phases</a:t>
            </a:r>
          </a:p>
        </p:txBody>
      </p:sp>
      <p:sp>
        <p:nvSpPr>
          <p:cNvPr id="9" name="TextBox 8"/>
          <p:cNvSpPr txBox="1"/>
          <p:nvPr/>
        </p:nvSpPr>
        <p:spPr>
          <a:xfrm>
            <a:off x="1097280" y="448056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Food preference learning (love / try / avoid)</a:t>
            </a:r>
          </a:p>
        </p:txBody>
      </p:sp>
      <p:sp>
        <p:nvSpPr>
          <p:cNvPr id="10" name="TextBox 9"/>
          <p:cNvSpPr txBox="1"/>
          <p:nvPr/>
        </p:nvSpPr>
        <p:spPr>
          <a:xfrm>
            <a:off x="1097280" y="498348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Weather-adjusted hydration targets</a:t>
            </a:r>
          </a:p>
        </p:txBody>
      </p:sp>
      <p:sp>
        <p:nvSpPr>
          <p:cNvPr id="11" name="TextBox 10"/>
          <p:cNvSpPr txBox="1"/>
          <p:nvPr/>
        </p:nvSpPr>
        <p:spPr>
          <a:xfrm>
            <a:off x="1097280" y="548640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Carb-loading protocols</a:t>
            </a:r>
          </a:p>
        </p:txBody>
      </p:sp>
      <p:sp>
        <p:nvSpPr>
          <p:cNvPr id="12" name="TextBox 11"/>
          <p:cNvSpPr txBox="1"/>
          <p:nvPr/>
        </p:nvSpPr>
        <p:spPr>
          <a:xfrm>
            <a:off x="4572000" y="2926080"/>
            <a:ext cx="3108960" cy="457200"/>
          </a:xfrm>
          <a:prstGeom prst="rect">
            <a:avLst/>
          </a:prstGeom>
          <a:noFill/>
        </p:spPr>
        <p:txBody>
          <a:bodyPr wrap="square">
            <a:spAutoFit/>
          </a:bodyPr>
          <a:lstStyle/>
          <a:p>
            <a:pPr algn="l">
              <a:lnSpc>
                <a:spcPts val="2400"/>
              </a:lnSpc>
              <a:spcAft>
                <a:spcPts val="0"/>
              </a:spcAft>
              <a:defRPr sz="2000" b="1">
                <a:solidFill>
                  <a:srgbClr val="5DE4D3"/>
                </a:solidFill>
                <a:latin typeface="Calibri"/>
              </a:defRPr>
            </a:pPr>
            <a:r>
              <a:t>For Coaches</a:t>
            </a:r>
          </a:p>
        </p:txBody>
      </p:sp>
      <p:sp>
        <p:nvSpPr>
          <p:cNvPr id="13" name="TextBox 12"/>
          <p:cNvSpPr txBox="1"/>
          <p:nvPr/>
        </p:nvSpPr>
        <p:spPr>
          <a:xfrm>
            <a:off x="4572000" y="347472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Web dashboard + mobile app</a:t>
            </a:r>
          </a:p>
        </p:txBody>
      </p:sp>
      <p:sp>
        <p:nvSpPr>
          <p:cNvPr id="14" name="TextBox 13"/>
          <p:cNvSpPr txBox="1"/>
          <p:nvPr/>
        </p:nvSpPr>
        <p:spPr>
          <a:xfrm>
            <a:off x="4572000" y="397764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Many-to-many athlete management</a:t>
            </a:r>
          </a:p>
        </p:txBody>
      </p:sp>
      <p:sp>
        <p:nvSpPr>
          <p:cNvPr id="15" name="TextBox 14"/>
          <p:cNvSpPr txBox="1"/>
          <p:nvPr/>
        </p:nvSpPr>
        <p:spPr>
          <a:xfrm>
            <a:off x="4572000" y="448056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Edit &amp; monitor nutrition plans</a:t>
            </a:r>
          </a:p>
        </p:txBody>
      </p:sp>
      <p:sp>
        <p:nvSpPr>
          <p:cNvPr id="16" name="TextBox 15"/>
          <p:cNvSpPr txBox="1"/>
          <p:nvPr/>
        </p:nvSpPr>
        <p:spPr>
          <a:xfrm>
            <a:off x="4572000" y="498348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In-app messaging</a:t>
            </a:r>
          </a:p>
        </p:txBody>
      </p:sp>
      <p:sp>
        <p:nvSpPr>
          <p:cNvPr id="17" name="TextBox 16"/>
          <p:cNvSpPr txBox="1"/>
          <p:nvPr/>
        </p:nvSpPr>
        <p:spPr>
          <a:xfrm>
            <a:off x="4572000" y="548640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Certification verification</a:t>
            </a:r>
          </a:p>
        </p:txBody>
      </p:sp>
      <p:sp>
        <p:nvSpPr>
          <p:cNvPr id="18" name="TextBox 17"/>
          <p:cNvSpPr txBox="1"/>
          <p:nvPr/>
        </p:nvSpPr>
        <p:spPr>
          <a:xfrm>
            <a:off x="8046719" y="2926080"/>
            <a:ext cx="3108960" cy="457200"/>
          </a:xfrm>
          <a:prstGeom prst="rect">
            <a:avLst/>
          </a:prstGeom>
          <a:noFill/>
        </p:spPr>
        <p:txBody>
          <a:bodyPr wrap="square">
            <a:spAutoFit/>
          </a:bodyPr>
          <a:lstStyle/>
          <a:p>
            <a:pPr algn="l">
              <a:lnSpc>
                <a:spcPts val="2400"/>
              </a:lnSpc>
              <a:spcAft>
                <a:spcPts val="0"/>
              </a:spcAft>
              <a:defRPr sz="2000" b="1">
                <a:solidFill>
                  <a:srgbClr val="5DE4D3"/>
                </a:solidFill>
                <a:latin typeface="Calibri"/>
              </a:defRPr>
            </a:pPr>
            <a:r>
              <a:t>Science-Backed</a:t>
            </a:r>
          </a:p>
        </p:txBody>
      </p:sp>
      <p:sp>
        <p:nvSpPr>
          <p:cNvPr id="19" name="TextBox 18"/>
          <p:cNvSpPr txBox="1"/>
          <p:nvPr/>
        </p:nvSpPr>
        <p:spPr>
          <a:xfrm>
            <a:off x="8046719" y="347472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ACSM metabolic formulas</a:t>
            </a:r>
          </a:p>
        </p:txBody>
      </p:sp>
      <p:sp>
        <p:nvSpPr>
          <p:cNvPr id="20" name="TextBox 19"/>
          <p:cNvSpPr txBox="1"/>
          <p:nvPr/>
        </p:nvSpPr>
        <p:spPr>
          <a:xfrm>
            <a:off x="8046719" y="397764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ISSN sports nutrition guidelines</a:t>
            </a:r>
          </a:p>
        </p:txBody>
      </p:sp>
      <p:sp>
        <p:nvSpPr>
          <p:cNvPr id="21" name="TextBox 20"/>
          <p:cNvSpPr txBox="1"/>
          <p:nvPr/>
        </p:nvSpPr>
        <p:spPr>
          <a:xfrm>
            <a:off x="8046719" y="448056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Dual AI + algorithmic engine</a:t>
            </a:r>
          </a:p>
        </p:txBody>
      </p:sp>
      <p:sp>
        <p:nvSpPr>
          <p:cNvPr id="22" name="TextBox 21"/>
          <p:cNvSpPr txBox="1"/>
          <p:nvPr/>
        </p:nvSpPr>
        <p:spPr>
          <a:xfrm>
            <a:off x="8046719" y="498348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Clinical review by sports dietitian</a:t>
            </a:r>
          </a:p>
        </p:txBody>
      </p:sp>
      <p:sp>
        <p:nvSpPr>
          <p:cNvPr id="23" name="TextBox 22"/>
          <p:cNvSpPr txBox="1"/>
          <p:nvPr/>
        </p:nvSpPr>
        <p:spPr>
          <a:xfrm>
            <a:off x="8046719" y="5486400"/>
            <a:ext cx="3108960" cy="457200"/>
          </a:xfrm>
          <a:prstGeom prst="rect">
            <a:avLst/>
          </a:prstGeom>
          <a:noFill/>
        </p:spPr>
        <p:txBody>
          <a:bodyPr wrap="square">
            <a:spAutoFit/>
          </a:bodyPr>
          <a:lstStyle/>
          <a:p>
            <a:pPr algn="l">
              <a:lnSpc>
                <a:spcPts val="1680"/>
              </a:lnSpc>
              <a:spcAft>
                <a:spcPts val="0"/>
              </a:spcAft>
              <a:defRPr sz="1400" b="0">
                <a:solidFill>
                  <a:srgbClr val="F5F3ED"/>
                </a:solidFill>
                <a:latin typeface="Calibri"/>
              </a:defRPr>
            </a:pPr>
            <a:r>
              <a:t>•  Offline-first reliability</a:t>
            </a:r>
          </a:p>
        </p:txBody>
      </p:sp>
      <p:sp>
        <p:nvSpPr>
          <p:cNvPr id="24" name="TextBox 23"/>
          <p:cNvSpPr txBox="1"/>
          <p:nvPr/>
        </p:nvSpPr>
        <p:spPr>
          <a:xfrm>
            <a:off x="11338560" y="6400800"/>
            <a:ext cx="731520" cy="365760"/>
          </a:xfrm>
          <a:prstGeom prst="rect">
            <a:avLst/>
          </a:prstGeom>
          <a:noFill/>
        </p:spPr>
        <p:txBody>
          <a:bodyPr wrap="square">
            <a:spAutoFit/>
          </a:bodyPr>
          <a:lstStyle/>
          <a:p>
            <a:pPr algn="r">
              <a:lnSpc>
                <a:spcPts val="1200"/>
              </a:lnSpc>
              <a:spcAft>
                <a:spcPts val="0"/>
              </a:spcAft>
              <a:defRPr sz="1000" b="0">
                <a:solidFill>
                  <a:srgbClr val="CCCCCC"/>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48640"/>
            <a:ext cx="2743200" cy="45720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THE PRODUCT</a:t>
            </a:r>
          </a:p>
        </p:txBody>
      </p:sp>
      <p:sp>
        <p:nvSpPr>
          <p:cNvPr id="4" name="TextBox 3"/>
          <p:cNvSpPr txBox="1"/>
          <p:nvPr/>
        </p:nvSpPr>
        <p:spPr>
          <a:xfrm>
            <a:off x="1097280" y="1005840"/>
            <a:ext cx="9144000" cy="914400"/>
          </a:xfrm>
          <a:prstGeom prst="rect">
            <a:avLst/>
          </a:prstGeom>
          <a:noFill/>
        </p:spPr>
        <p:txBody>
          <a:bodyPr wrap="square">
            <a:spAutoFit/>
          </a:bodyPr>
          <a:lstStyle/>
          <a:p>
            <a:pPr algn="l">
              <a:lnSpc>
                <a:spcPts val="4320"/>
              </a:lnSpc>
              <a:spcAft>
                <a:spcPts val="0"/>
              </a:spcAft>
              <a:defRPr sz="3600" b="1">
                <a:solidFill>
                  <a:srgbClr val="3D1F47"/>
                </a:solidFill>
                <a:latin typeface="Calibri"/>
              </a:defRPr>
            </a:pPr>
            <a:r>
              <a:t>A complete nutrition planning platform.</a:t>
            </a:r>
          </a:p>
        </p:txBody>
      </p:sp>
      <p:sp>
        <p:nvSpPr>
          <p:cNvPr id="5" name="Rectangle 4"/>
          <p:cNvSpPr/>
          <p:nvPr/>
        </p:nvSpPr>
        <p:spPr>
          <a:xfrm>
            <a:off x="1097280" y="2194560"/>
            <a:ext cx="310896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0" y="2468880"/>
            <a:ext cx="457200" cy="3810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651760"/>
            <a:ext cx="2560320" cy="457200"/>
          </a:xfrm>
          <a:prstGeom prst="rect">
            <a:avLst/>
          </a:prstGeom>
          <a:noFill/>
        </p:spPr>
        <p:txBody>
          <a:bodyPr wrap="square">
            <a:spAutoFit/>
          </a:bodyPr>
          <a:lstStyle/>
          <a:p>
            <a:pPr algn="l">
              <a:lnSpc>
                <a:spcPts val="2160"/>
              </a:lnSpc>
              <a:spcAft>
                <a:spcPts val="0"/>
              </a:spcAft>
              <a:defRPr sz="1800" b="1">
                <a:solidFill>
                  <a:srgbClr val="3D1F47"/>
                </a:solidFill>
                <a:latin typeface="Calibri"/>
              </a:defRPr>
            </a:pPr>
            <a:r>
              <a:t>AI Plan Generation</a:t>
            </a:r>
          </a:p>
        </p:txBody>
      </p:sp>
      <p:sp>
        <p:nvSpPr>
          <p:cNvPr id="8" name="TextBox 7"/>
          <p:cNvSpPr txBox="1"/>
          <p:nvPr/>
        </p:nvSpPr>
        <p:spPr>
          <a:xfrm>
            <a:off x="1371600" y="3108960"/>
            <a:ext cx="2560320" cy="7315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Personalized nutrition plans in seconds using ACSM formulas + LLM intelligence</a:t>
            </a:r>
          </a:p>
        </p:txBody>
      </p:sp>
      <p:sp>
        <p:nvSpPr>
          <p:cNvPr id="9" name="Rectangle 8"/>
          <p:cNvSpPr/>
          <p:nvPr/>
        </p:nvSpPr>
        <p:spPr>
          <a:xfrm>
            <a:off x="4572000" y="2194560"/>
            <a:ext cx="310896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46320" y="2468880"/>
            <a:ext cx="457200" cy="3810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2651760"/>
            <a:ext cx="2560320" cy="457200"/>
          </a:xfrm>
          <a:prstGeom prst="rect">
            <a:avLst/>
          </a:prstGeom>
          <a:noFill/>
        </p:spPr>
        <p:txBody>
          <a:bodyPr wrap="square">
            <a:spAutoFit/>
          </a:bodyPr>
          <a:lstStyle/>
          <a:p>
            <a:pPr algn="l">
              <a:lnSpc>
                <a:spcPts val="2160"/>
              </a:lnSpc>
              <a:spcAft>
                <a:spcPts val="0"/>
              </a:spcAft>
              <a:defRPr sz="1800" b="1">
                <a:solidFill>
                  <a:srgbClr val="3D1F47"/>
                </a:solidFill>
                <a:latin typeface="Calibri"/>
              </a:defRPr>
            </a:pPr>
            <a:r>
              <a:t>Food Preferences</a:t>
            </a:r>
          </a:p>
        </p:txBody>
      </p:sp>
      <p:sp>
        <p:nvSpPr>
          <p:cNvPr id="12" name="TextBox 11"/>
          <p:cNvSpPr txBox="1"/>
          <p:nvPr/>
        </p:nvSpPr>
        <p:spPr>
          <a:xfrm>
            <a:off x="4846320" y="3108960"/>
            <a:ext cx="2560320" cy="7315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3-tier system learns what athletes love, will try, and want to avoid</a:t>
            </a:r>
          </a:p>
        </p:txBody>
      </p:sp>
      <p:sp>
        <p:nvSpPr>
          <p:cNvPr id="13" name="Rectangle 12"/>
          <p:cNvSpPr/>
          <p:nvPr/>
        </p:nvSpPr>
        <p:spPr>
          <a:xfrm>
            <a:off x="8046719" y="2194560"/>
            <a:ext cx="310896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39" y="2468880"/>
            <a:ext cx="457200" cy="3810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39" y="2651760"/>
            <a:ext cx="2560320" cy="457200"/>
          </a:xfrm>
          <a:prstGeom prst="rect">
            <a:avLst/>
          </a:prstGeom>
          <a:noFill/>
        </p:spPr>
        <p:txBody>
          <a:bodyPr wrap="square">
            <a:spAutoFit/>
          </a:bodyPr>
          <a:lstStyle/>
          <a:p>
            <a:pPr algn="l">
              <a:lnSpc>
                <a:spcPts val="2160"/>
              </a:lnSpc>
              <a:spcAft>
                <a:spcPts val="0"/>
              </a:spcAft>
              <a:defRPr sz="1800" b="1">
                <a:solidFill>
                  <a:srgbClr val="3D1F47"/>
                </a:solidFill>
                <a:latin typeface="Calibri"/>
              </a:defRPr>
            </a:pPr>
            <a:r>
              <a:t>Coach Mode</a:t>
            </a:r>
          </a:p>
        </p:txBody>
      </p:sp>
      <p:sp>
        <p:nvSpPr>
          <p:cNvPr id="16" name="TextBox 15"/>
          <p:cNvSpPr txBox="1"/>
          <p:nvPr/>
        </p:nvSpPr>
        <p:spPr>
          <a:xfrm>
            <a:off x="8321039" y="3108960"/>
            <a:ext cx="2560320" cy="7315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Web dashboard for coaches to manage athletes and edit plans at scale</a:t>
            </a:r>
          </a:p>
        </p:txBody>
      </p:sp>
      <p:sp>
        <p:nvSpPr>
          <p:cNvPr id="17" name="Rectangle 16"/>
          <p:cNvSpPr/>
          <p:nvPr/>
        </p:nvSpPr>
        <p:spPr>
          <a:xfrm>
            <a:off x="1097280" y="4297679"/>
            <a:ext cx="310896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371600" y="4571999"/>
            <a:ext cx="457200" cy="3810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4754879"/>
            <a:ext cx="2560320" cy="457200"/>
          </a:xfrm>
          <a:prstGeom prst="rect">
            <a:avLst/>
          </a:prstGeom>
          <a:noFill/>
        </p:spPr>
        <p:txBody>
          <a:bodyPr wrap="square">
            <a:spAutoFit/>
          </a:bodyPr>
          <a:lstStyle/>
          <a:p>
            <a:pPr algn="l">
              <a:lnSpc>
                <a:spcPts val="2160"/>
              </a:lnSpc>
              <a:spcAft>
                <a:spcPts val="0"/>
              </a:spcAft>
              <a:defRPr sz="1800" b="1">
                <a:solidFill>
                  <a:srgbClr val="3D1F47"/>
                </a:solidFill>
                <a:latin typeface="Calibri"/>
              </a:defRPr>
            </a:pPr>
            <a:r>
              <a:t>Integrations</a:t>
            </a:r>
          </a:p>
        </p:txBody>
      </p:sp>
      <p:sp>
        <p:nvSpPr>
          <p:cNvPr id="20" name="TextBox 19"/>
          <p:cNvSpPr txBox="1"/>
          <p:nvPr/>
        </p:nvSpPr>
        <p:spPr>
          <a:xfrm>
            <a:off x="1371600" y="5212079"/>
            <a:ext cx="2560320" cy="7315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TrainingPeaks, FinalSurge, Garmin — sync activities and push nutrition data back</a:t>
            </a:r>
          </a:p>
        </p:txBody>
      </p:sp>
      <p:sp>
        <p:nvSpPr>
          <p:cNvPr id="21" name="Rectangle 20"/>
          <p:cNvSpPr/>
          <p:nvPr/>
        </p:nvSpPr>
        <p:spPr>
          <a:xfrm>
            <a:off x="4572000" y="4297679"/>
            <a:ext cx="310896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4571999"/>
            <a:ext cx="457200" cy="3810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4754879"/>
            <a:ext cx="2560320" cy="457200"/>
          </a:xfrm>
          <a:prstGeom prst="rect">
            <a:avLst/>
          </a:prstGeom>
          <a:noFill/>
        </p:spPr>
        <p:txBody>
          <a:bodyPr wrap="square">
            <a:spAutoFit/>
          </a:bodyPr>
          <a:lstStyle/>
          <a:p>
            <a:pPr algn="l">
              <a:lnSpc>
                <a:spcPts val="2160"/>
              </a:lnSpc>
              <a:spcAft>
                <a:spcPts val="0"/>
              </a:spcAft>
              <a:defRPr sz="1800" b="1">
                <a:solidFill>
                  <a:srgbClr val="3D1F47"/>
                </a:solidFill>
                <a:latin typeface="Calibri"/>
              </a:defRPr>
            </a:pPr>
            <a:r>
              <a:t>Carb Loading</a:t>
            </a:r>
          </a:p>
        </p:txBody>
      </p:sp>
      <p:sp>
        <p:nvSpPr>
          <p:cNvPr id="24" name="TextBox 23"/>
          <p:cNvSpPr txBox="1"/>
          <p:nvPr/>
        </p:nvSpPr>
        <p:spPr>
          <a:xfrm>
            <a:off x="4846320" y="5212079"/>
            <a:ext cx="2560320" cy="7315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Multi-day protocols tailored to race distance and athlete weight</a:t>
            </a:r>
          </a:p>
        </p:txBody>
      </p:sp>
      <p:sp>
        <p:nvSpPr>
          <p:cNvPr id="25" name="Rectangle 24"/>
          <p:cNvSpPr/>
          <p:nvPr/>
        </p:nvSpPr>
        <p:spPr>
          <a:xfrm>
            <a:off x="8046719" y="4297679"/>
            <a:ext cx="310896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39" y="4571999"/>
            <a:ext cx="457200" cy="3810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39" y="4754879"/>
            <a:ext cx="2560320" cy="457200"/>
          </a:xfrm>
          <a:prstGeom prst="rect">
            <a:avLst/>
          </a:prstGeom>
          <a:noFill/>
        </p:spPr>
        <p:txBody>
          <a:bodyPr wrap="square">
            <a:spAutoFit/>
          </a:bodyPr>
          <a:lstStyle/>
          <a:p>
            <a:pPr algn="l">
              <a:lnSpc>
                <a:spcPts val="2160"/>
              </a:lnSpc>
              <a:spcAft>
                <a:spcPts val="0"/>
              </a:spcAft>
              <a:defRPr sz="1800" b="1">
                <a:solidFill>
                  <a:srgbClr val="3D1F47"/>
                </a:solidFill>
                <a:latin typeface="Calibri"/>
              </a:defRPr>
            </a:pPr>
            <a:r>
              <a:t>Offline-First</a:t>
            </a:r>
          </a:p>
        </p:txBody>
      </p:sp>
      <p:sp>
        <p:nvSpPr>
          <p:cNvPr id="28" name="TextBox 27"/>
          <p:cNvSpPr txBox="1"/>
          <p:nvPr/>
        </p:nvSpPr>
        <p:spPr>
          <a:xfrm>
            <a:off x="8321039" y="5212079"/>
            <a:ext cx="2560320" cy="7315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Full functionality without internet — critical for remote training</a:t>
            </a:r>
          </a:p>
        </p:txBody>
      </p:sp>
      <p:sp>
        <p:nvSpPr>
          <p:cNvPr id="29" name="TextBox 28"/>
          <p:cNvSpPr txBox="1"/>
          <p:nvPr/>
        </p:nvSpPr>
        <p:spPr>
          <a:xfrm>
            <a:off x="7772400" y="5943600"/>
            <a:ext cx="4114800" cy="457200"/>
          </a:xfrm>
          <a:prstGeom prst="rect">
            <a:avLst/>
          </a:prstGeom>
          <a:noFill/>
        </p:spPr>
        <p:txBody>
          <a:bodyPr wrap="square">
            <a:spAutoFit/>
          </a:bodyPr>
          <a:lstStyle/>
          <a:p>
            <a:pPr algn="r">
              <a:lnSpc>
                <a:spcPts val="1439"/>
              </a:lnSpc>
              <a:spcAft>
                <a:spcPts val="0"/>
              </a:spcAft>
              <a:defRPr sz="1200" b="0">
                <a:solidFill>
                  <a:srgbClr val="999999"/>
                </a:solidFill>
                <a:latin typeface="Calibri"/>
              </a:defRPr>
            </a:pPr>
            <a:r>
              <a:t>[Add app screenshots here]</a:t>
            </a:r>
          </a:p>
        </p:txBody>
      </p:sp>
      <p:sp>
        <p:nvSpPr>
          <p:cNvPr id="30" name="TextBox 29"/>
          <p:cNvSpPr txBox="1"/>
          <p:nvPr/>
        </p:nvSpPr>
        <p:spPr>
          <a:xfrm>
            <a:off x="11338560" y="6400800"/>
            <a:ext cx="731520" cy="365760"/>
          </a:xfrm>
          <a:prstGeom prst="rect">
            <a:avLst/>
          </a:prstGeom>
          <a:noFill/>
        </p:spPr>
        <p:txBody>
          <a:bodyPr wrap="square">
            <a:spAutoFit/>
          </a:bodyPr>
          <a:lstStyle/>
          <a:p>
            <a:pPr algn="r">
              <a:lnSpc>
                <a:spcPts val="1200"/>
              </a:lnSpc>
              <a:spcAft>
                <a:spcPts val="0"/>
              </a:spcAft>
              <a:defRPr sz="1000" b="0">
                <a:solidFill>
                  <a:srgbClr val="CCCCCC"/>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3D1F4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48640"/>
            <a:ext cx="2743200" cy="45720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WHY NOW</a:t>
            </a:r>
          </a:p>
        </p:txBody>
      </p:sp>
      <p:sp>
        <p:nvSpPr>
          <p:cNvPr id="4" name="TextBox 3"/>
          <p:cNvSpPr txBox="1"/>
          <p:nvPr/>
        </p:nvSpPr>
        <p:spPr>
          <a:xfrm>
            <a:off x="1097280" y="1005840"/>
            <a:ext cx="9144000" cy="914400"/>
          </a:xfrm>
          <a:prstGeom prst="rect">
            <a:avLst/>
          </a:prstGeom>
          <a:noFill/>
        </p:spPr>
        <p:txBody>
          <a:bodyPr wrap="square">
            <a:spAutoFit/>
          </a:bodyPr>
          <a:lstStyle/>
          <a:p>
            <a:pPr algn="l">
              <a:lnSpc>
                <a:spcPts val="4320"/>
              </a:lnSpc>
              <a:spcAft>
                <a:spcPts val="0"/>
              </a:spcAft>
              <a:defRPr sz="3600" b="1">
                <a:solidFill>
                  <a:srgbClr val="FFFFFF"/>
                </a:solidFill>
                <a:latin typeface="Calibri"/>
              </a:defRPr>
            </a:pPr>
            <a:r>
              <a:t>Five converging trends.</a:t>
            </a:r>
          </a:p>
        </p:txBody>
      </p:sp>
      <p:sp>
        <p:nvSpPr>
          <p:cNvPr id="5" name="Oval 4"/>
          <p:cNvSpPr/>
          <p:nvPr/>
        </p:nvSpPr>
        <p:spPr>
          <a:xfrm>
            <a:off x="777240" y="2286000"/>
            <a:ext cx="502920" cy="502920"/>
          </a:xfrm>
          <a:prstGeom prst="ellipse">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defRPr>
            </a:pPr>
            <a:r>
              <a:t>1</a:t>
            </a:r>
          </a:p>
        </p:txBody>
      </p:sp>
      <p:sp>
        <p:nvSpPr>
          <p:cNvPr id="6" name="TextBox 5"/>
          <p:cNvSpPr txBox="1"/>
          <p:nvPr/>
        </p:nvSpPr>
        <p:spPr>
          <a:xfrm>
            <a:off x="731520" y="3017520"/>
            <a:ext cx="2103120" cy="457200"/>
          </a:xfrm>
          <a:prstGeom prst="rect">
            <a:avLst/>
          </a:prstGeom>
          <a:noFill/>
        </p:spPr>
        <p:txBody>
          <a:bodyPr wrap="square">
            <a:spAutoFit/>
          </a:bodyPr>
          <a:lstStyle/>
          <a:p>
            <a:pPr algn="l">
              <a:lnSpc>
                <a:spcPts val="1920"/>
              </a:lnSpc>
              <a:spcAft>
                <a:spcPts val="0"/>
              </a:spcAft>
              <a:defRPr sz="1600" b="1">
                <a:solidFill>
                  <a:srgbClr val="5DE4D3"/>
                </a:solidFill>
                <a:latin typeface="Calibri"/>
              </a:defRPr>
            </a:pPr>
            <a:r>
              <a:t>Record participation</a:t>
            </a:r>
          </a:p>
        </p:txBody>
      </p:sp>
      <p:sp>
        <p:nvSpPr>
          <p:cNvPr id="7" name="TextBox 6"/>
          <p:cNvSpPr txBox="1"/>
          <p:nvPr/>
        </p:nvSpPr>
        <p:spPr>
          <a:xfrm>
            <a:off x="731520" y="3566160"/>
            <a:ext cx="2103120" cy="2286000"/>
          </a:xfrm>
          <a:prstGeom prst="rect">
            <a:avLst/>
          </a:prstGeom>
          <a:noFill/>
        </p:spPr>
        <p:txBody>
          <a:bodyPr wrap="square">
            <a:spAutoFit/>
          </a:bodyPr>
          <a:lstStyle/>
          <a:p>
            <a:pPr algn="l">
              <a:lnSpc>
                <a:spcPts val="1820"/>
              </a:lnSpc>
              <a:spcAft>
                <a:spcPts val="0"/>
              </a:spcAft>
              <a:defRPr sz="1300" b="0">
                <a:solidFill>
                  <a:srgbClr val="F5F3ED"/>
                </a:solidFill>
                <a:latin typeface="Calibri"/>
              </a:defRPr>
            </a:pPr>
            <a:r>
              <a:t>650K+ marathon finishers in 2023.</a:t>
            </a:r>
            <a:br/>
            <a:r>
              <a:t>2M+ half-marathon participants.</a:t>
            </a:r>
            <a:br/>
            <a:r>
              <a:t>Triathlon growing 8-10% annually.</a:t>
            </a:r>
          </a:p>
        </p:txBody>
      </p:sp>
      <p:sp>
        <p:nvSpPr>
          <p:cNvPr id="8" name="Oval 7"/>
          <p:cNvSpPr/>
          <p:nvPr/>
        </p:nvSpPr>
        <p:spPr>
          <a:xfrm>
            <a:off x="3063240" y="2286000"/>
            <a:ext cx="502920" cy="502920"/>
          </a:xfrm>
          <a:prstGeom prst="ellipse">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defRPr>
            </a:pPr>
            <a:r>
              <a:t>2</a:t>
            </a:r>
          </a:p>
        </p:txBody>
      </p:sp>
      <p:sp>
        <p:nvSpPr>
          <p:cNvPr id="9" name="TextBox 8"/>
          <p:cNvSpPr txBox="1"/>
          <p:nvPr/>
        </p:nvSpPr>
        <p:spPr>
          <a:xfrm>
            <a:off x="3017520" y="3017520"/>
            <a:ext cx="2103120" cy="457200"/>
          </a:xfrm>
          <a:prstGeom prst="rect">
            <a:avLst/>
          </a:prstGeom>
          <a:noFill/>
        </p:spPr>
        <p:txBody>
          <a:bodyPr wrap="square">
            <a:spAutoFit/>
          </a:bodyPr>
          <a:lstStyle/>
          <a:p>
            <a:pPr algn="l">
              <a:lnSpc>
                <a:spcPts val="1920"/>
              </a:lnSpc>
              <a:spcAft>
                <a:spcPts val="0"/>
              </a:spcAft>
              <a:defRPr sz="1600" b="1">
                <a:solidFill>
                  <a:srgbClr val="5DE4D3"/>
                </a:solidFill>
                <a:latin typeface="Calibri"/>
              </a:defRPr>
            </a:pPr>
            <a:r>
              <a:t>AI personalization wave</a:t>
            </a:r>
          </a:p>
        </p:txBody>
      </p:sp>
      <p:sp>
        <p:nvSpPr>
          <p:cNvPr id="10" name="TextBox 9"/>
          <p:cNvSpPr txBox="1"/>
          <p:nvPr/>
        </p:nvSpPr>
        <p:spPr>
          <a:xfrm>
            <a:off x="3017520" y="3566160"/>
            <a:ext cx="2103120" cy="2286000"/>
          </a:xfrm>
          <a:prstGeom prst="rect">
            <a:avLst/>
          </a:prstGeom>
          <a:noFill/>
        </p:spPr>
        <p:txBody>
          <a:bodyPr wrap="square">
            <a:spAutoFit/>
          </a:bodyPr>
          <a:lstStyle/>
          <a:p>
            <a:pPr algn="l">
              <a:lnSpc>
                <a:spcPts val="1820"/>
              </a:lnSpc>
              <a:spcAft>
                <a:spcPts val="0"/>
              </a:spcAft>
              <a:defRPr sz="1300" b="0">
                <a:solidFill>
                  <a:srgbClr val="F5F3ED"/>
                </a:solidFill>
                <a:latin typeface="Calibri"/>
              </a:defRPr>
            </a:pPr>
            <a:r>
              <a:t>Consumer expectation has shifted</a:t>
            </a:r>
            <a:br/>
            <a:r>
              <a:t>from generic to individually tailored.</a:t>
            </a:r>
            <a:br/>
            <a:r>
              <a:t>LLMs make this possible at scale.</a:t>
            </a:r>
          </a:p>
        </p:txBody>
      </p:sp>
      <p:sp>
        <p:nvSpPr>
          <p:cNvPr id="11" name="Oval 10"/>
          <p:cNvSpPr/>
          <p:nvPr/>
        </p:nvSpPr>
        <p:spPr>
          <a:xfrm>
            <a:off x="5349240" y="2286000"/>
            <a:ext cx="502920" cy="502920"/>
          </a:xfrm>
          <a:prstGeom prst="ellipse">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defRPr>
            </a:pPr>
            <a:r>
              <a:t>3</a:t>
            </a:r>
          </a:p>
        </p:txBody>
      </p:sp>
      <p:sp>
        <p:nvSpPr>
          <p:cNvPr id="12" name="TextBox 11"/>
          <p:cNvSpPr txBox="1"/>
          <p:nvPr/>
        </p:nvSpPr>
        <p:spPr>
          <a:xfrm>
            <a:off x="5303520" y="3017520"/>
            <a:ext cx="2103120" cy="457200"/>
          </a:xfrm>
          <a:prstGeom prst="rect">
            <a:avLst/>
          </a:prstGeom>
          <a:noFill/>
        </p:spPr>
        <p:txBody>
          <a:bodyPr wrap="square">
            <a:spAutoFit/>
          </a:bodyPr>
          <a:lstStyle/>
          <a:p>
            <a:pPr algn="l">
              <a:lnSpc>
                <a:spcPts val="1920"/>
              </a:lnSpc>
              <a:spcAft>
                <a:spcPts val="0"/>
              </a:spcAft>
              <a:defRPr sz="1600" b="1">
                <a:solidFill>
                  <a:srgbClr val="5DE4D3"/>
                </a:solidFill>
                <a:latin typeface="Calibri"/>
              </a:defRPr>
            </a:pPr>
            <a:r>
              <a:t>Coaching going digital</a:t>
            </a:r>
          </a:p>
        </p:txBody>
      </p:sp>
      <p:sp>
        <p:nvSpPr>
          <p:cNvPr id="13" name="TextBox 12"/>
          <p:cNvSpPr txBox="1"/>
          <p:nvPr/>
        </p:nvSpPr>
        <p:spPr>
          <a:xfrm>
            <a:off x="5303520" y="3566160"/>
            <a:ext cx="2103120" cy="2286000"/>
          </a:xfrm>
          <a:prstGeom prst="rect">
            <a:avLst/>
          </a:prstGeom>
          <a:noFill/>
        </p:spPr>
        <p:txBody>
          <a:bodyPr wrap="square">
            <a:spAutoFit/>
          </a:bodyPr>
          <a:lstStyle/>
          <a:p>
            <a:pPr algn="l">
              <a:lnSpc>
                <a:spcPts val="1820"/>
              </a:lnSpc>
              <a:spcAft>
                <a:spcPts val="0"/>
              </a:spcAft>
              <a:defRPr sz="1300" b="0">
                <a:solidFill>
                  <a:srgbClr val="F5F3ED"/>
                </a:solidFill>
                <a:latin typeface="Calibri"/>
              </a:defRPr>
            </a:pPr>
            <a:r>
              <a:t>Training is digital (TrainingPeaks,</a:t>
            </a:r>
            <a:br/>
            <a:r>
              <a:t>Strava). Nutrition is the last pillar</a:t>
            </a:r>
            <a:br/>
            <a:r>
              <a:t>still done with spreadsheets.</a:t>
            </a:r>
          </a:p>
        </p:txBody>
      </p:sp>
      <p:sp>
        <p:nvSpPr>
          <p:cNvPr id="14" name="Oval 13"/>
          <p:cNvSpPr/>
          <p:nvPr/>
        </p:nvSpPr>
        <p:spPr>
          <a:xfrm>
            <a:off x="7635240" y="2286000"/>
            <a:ext cx="502920" cy="502920"/>
          </a:xfrm>
          <a:prstGeom prst="ellipse">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defRPr>
            </a:pPr>
            <a:r>
              <a:t>4</a:t>
            </a:r>
          </a:p>
        </p:txBody>
      </p:sp>
      <p:sp>
        <p:nvSpPr>
          <p:cNvPr id="15" name="TextBox 14"/>
          <p:cNvSpPr txBox="1"/>
          <p:nvPr/>
        </p:nvSpPr>
        <p:spPr>
          <a:xfrm>
            <a:off x="7589520" y="3017520"/>
            <a:ext cx="2103120" cy="457200"/>
          </a:xfrm>
          <a:prstGeom prst="rect">
            <a:avLst/>
          </a:prstGeom>
          <a:noFill/>
        </p:spPr>
        <p:txBody>
          <a:bodyPr wrap="square">
            <a:spAutoFit/>
          </a:bodyPr>
          <a:lstStyle/>
          <a:p>
            <a:pPr algn="l">
              <a:lnSpc>
                <a:spcPts val="1920"/>
              </a:lnSpc>
              <a:spcAft>
                <a:spcPts val="0"/>
              </a:spcAft>
              <a:defRPr sz="1600" b="1">
                <a:solidFill>
                  <a:srgbClr val="5DE4D3"/>
                </a:solidFill>
                <a:latin typeface="Calibri"/>
              </a:defRPr>
            </a:pPr>
            <a:r>
              <a:t>Nutrition brands booming</a:t>
            </a:r>
          </a:p>
        </p:txBody>
      </p:sp>
      <p:sp>
        <p:nvSpPr>
          <p:cNvPr id="16" name="TextBox 15"/>
          <p:cNvSpPr txBox="1"/>
          <p:nvPr/>
        </p:nvSpPr>
        <p:spPr>
          <a:xfrm>
            <a:off x="7589520" y="3566160"/>
            <a:ext cx="2103120" cy="2286000"/>
          </a:xfrm>
          <a:prstGeom prst="rect">
            <a:avLst/>
          </a:prstGeom>
          <a:noFill/>
        </p:spPr>
        <p:txBody>
          <a:bodyPr wrap="square">
            <a:spAutoFit/>
          </a:bodyPr>
          <a:lstStyle/>
          <a:p>
            <a:pPr algn="l">
              <a:lnSpc>
                <a:spcPts val="1820"/>
              </a:lnSpc>
              <a:spcAft>
                <a:spcPts val="0"/>
              </a:spcAft>
              <a:defRPr sz="1300" b="0">
                <a:solidFill>
                  <a:srgbClr val="F5F3ED"/>
                </a:solidFill>
                <a:latin typeface="Calibri"/>
              </a:defRPr>
            </a:pPr>
            <a:r>
              <a:t>Gels, bars, hydration brands need</a:t>
            </a:r>
            <a:br/>
            <a:r>
              <a:t>data-driven customer channels.</a:t>
            </a:r>
            <a:br/>
            <a:r>
              <a:t>Our recommendations = distribution.</a:t>
            </a:r>
          </a:p>
        </p:txBody>
      </p:sp>
      <p:sp>
        <p:nvSpPr>
          <p:cNvPr id="17" name="Oval 16"/>
          <p:cNvSpPr/>
          <p:nvPr/>
        </p:nvSpPr>
        <p:spPr>
          <a:xfrm>
            <a:off x="9921240" y="2286000"/>
            <a:ext cx="502920" cy="502920"/>
          </a:xfrm>
          <a:prstGeom prst="ellipse">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000" b="1">
                <a:solidFill>
                  <a:srgbClr val="FFFFFF"/>
                </a:solidFill>
              </a:defRPr>
            </a:pPr>
            <a:r>
              <a:t>5</a:t>
            </a:r>
          </a:p>
        </p:txBody>
      </p:sp>
      <p:sp>
        <p:nvSpPr>
          <p:cNvPr id="18" name="TextBox 17"/>
          <p:cNvSpPr txBox="1"/>
          <p:nvPr/>
        </p:nvSpPr>
        <p:spPr>
          <a:xfrm>
            <a:off x="9875520" y="3017520"/>
            <a:ext cx="2103120" cy="457200"/>
          </a:xfrm>
          <a:prstGeom prst="rect">
            <a:avLst/>
          </a:prstGeom>
          <a:noFill/>
        </p:spPr>
        <p:txBody>
          <a:bodyPr wrap="square">
            <a:spAutoFit/>
          </a:bodyPr>
          <a:lstStyle/>
          <a:p>
            <a:pPr algn="l">
              <a:lnSpc>
                <a:spcPts val="1920"/>
              </a:lnSpc>
              <a:spcAft>
                <a:spcPts val="0"/>
              </a:spcAft>
              <a:defRPr sz="1600" b="1">
                <a:solidFill>
                  <a:srgbClr val="5DE4D3"/>
                </a:solidFill>
                <a:latin typeface="Calibri"/>
              </a:defRPr>
            </a:pPr>
            <a:r>
              <a:t>Remote coach economy</a:t>
            </a:r>
          </a:p>
        </p:txBody>
      </p:sp>
      <p:sp>
        <p:nvSpPr>
          <p:cNvPr id="19" name="TextBox 18"/>
          <p:cNvSpPr txBox="1"/>
          <p:nvPr/>
        </p:nvSpPr>
        <p:spPr>
          <a:xfrm>
            <a:off x="9875520" y="3566160"/>
            <a:ext cx="2103120" cy="2286000"/>
          </a:xfrm>
          <a:prstGeom prst="rect">
            <a:avLst/>
          </a:prstGeom>
          <a:noFill/>
        </p:spPr>
        <p:txBody>
          <a:bodyPr wrap="square">
            <a:spAutoFit/>
          </a:bodyPr>
          <a:lstStyle/>
          <a:p>
            <a:pPr algn="l">
              <a:lnSpc>
                <a:spcPts val="1820"/>
              </a:lnSpc>
              <a:spcAft>
                <a:spcPts val="0"/>
              </a:spcAft>
              <a:defRPr sz="1300" b="0">
                <a:solidFill>
                  <a:srgbClr val="F5F3ED"/>
                </a:solidFill>
                <a:latin typeface="Calibri"/>
              </a:defRPr>
            </a:pPr>
            <a:r>
              <a:t>COVID accelerated remote coaching.</a:t>
            </a:r>
            <a:br/>
            <a:r>
              <a:t>Coaches need digital nutrition tools</a:t>
            </a:r>
            <a:br/>
            <a:r>
              <a:t>to serve athletes at scale.</a:t>
            </a:r>
          </a:p>
        </p:txBody>
      </p:sp>
      <p:sp>
        <p:nvSpPr>
          <p:cNvPr id="20" name="TextBox 19"/>
          <p:cNvSpPr txBox="1"/>
          <p:nvPr/>
        </p:nvSpPr>
        <p:spPr>
          <a:xfrm>
            <a:off x="11338560" y="6400800"/>
            <a:ext cx="731520" cy="365760"/>
          </a:xfrm>
          <a:prstGeom prst="rect">
            <a:avLst/>
          </a:prstGeom>
          <a:noFill/>
        </p:spPr>
        <p:txBody>
          <a:bodyPr wrap="square">
            <a:spAutoFit/>
          </a:bodyPr>
          <a:lstStyle/>
          <a:p>
            <a:pPr algn="r">
              <a:lnSpc>
                <a:spcPts val="1200"/>
              </a:lnSpc>
              <a:spcAft>
                <a:spcPts val="0"/>
              </a:spcAft>
              <a:defRPr sz="1000" b="0">
                <a:solidFill>
                  <a:srgbClr val="CCCCCC"/>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48640"/>
            <a:ext cx="2743200" cy="45720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MARKET SIZE</a:t>
            </a:r>
          </a:p>
        </p:txBody>
      </p:sp>
      <p:sp>
        <p:nvSpPr>
          <p:cNvPr id="4" name="TextBox 3"/>
          <p:cNvSpPr txBox="1"/>
          <p:nvPr/>
        </p:nvSpPr>
        <p:spPr>
          <a:xfrm>
            <a:off x="1097280" y="1005840"/>
            <a:ext cx="9144000" cy="914400"/>
          </a:xfrm>
          <a:prstGeom prst="rect">
            <a:avLst/>
          </a:prstGeom>
          <a:noFill/>
        </p:spPr>
        <p:txBody>
          <a:bodyPr wrap="square">
            <a:spAutoFit/>
          </a:bodyPr>
          <a:lstStyle/>
          <a:p>
            <a:pPr algn="l">
              <a:lnSpc>
                <a:spcPts val="4320"/>
              </a:lnSpc>
              <a:spcAft>
                <a:spcPts val="0"/>
              </a:spcAft>
              <a:defRPr sz="3600" b="1">
                <a:solidFill>
                  <a:srgbClr val="3D1F47"/>
                </a:solidFill>
                <a:latin typeface="Calibri"/>
              </a:defRPr>
            </a:pPr>
            <a:r>
              <a:t>Large, growing, underserved.</a:t>
            </a:r>
          </a:p>
        </p:txBody>
      </p:sp>
      <p:sp>
        <p:nvSpPr>
          <p:cNvPr id="5" name="Oval 4"/>
          <p:cNvSpPr/>
          <p:nvPr/>
        </p:nvSpPr>
        <p:spPr>
          <a:xfrm>
            <a:off x="1371600" y="1828800"/>
            <a:ext cx="4572000" cy="4572000"/>
          </a:xfrm>
          <a:prstGeom prst="ellipse">
            <a:avLst/>
          </a:prstGeom>
          <a:solidFill>
            <a:srgbClr val="4A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11680" y="2468880"/>
            <a:ext cx="3291840" cy="3291840"/>
          </a:xfrm>
          <a:prstGeom prst="ellipse">
            <a:avLst/>
          </a:prstGeom>
          <a:solidFill>
            <a:srgbClr val="3D1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651760" y="3108960"/>
            <a:ext cx="2011680" cy="2011680"/>
          </a:xfrm>
          <a:prstGeom prst="ellipse">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86000"/>
            <a:ext cx="1371600" cy="365760"/>
          </a:xfrm>
          <a:prstGeom prst="rect">
            <a:avLst/>
          </a:prstGeom>
          <a:noFill/>
        </p:spPr>
        <p:txBody>
          <a:bodyPr wrap="square">
            <a:spAutoFit/>
          </a:bodyPr>
          <a:lstStyle/>
          <a:p>
            <a:pPr algn="l">
              <a:lnSpc>
                <a:spcPts val="1680"/>
              </a:lnSpc>
              <a:spcAft>
                <a:spcPts val="0"/>
              </a:spcAft>
              <a:defRPr sz="1400" b="1">
                <a:solidFill>
                  <a:srgbClr val="F5F3ED"/>
                </a:solidFill>
                <a:latin typeface="Calibri"/>
              </a:defRPr>
            </a:pPr>
            <a:r>
              <a:t>TAM</a:t>
            </a:r>
          </a:p>
        </p:txBody>
      </p:sp>
      <p:sp>
        <p:nvSpPr>
          <p:cNvPr id="9" name="TextBox 8"/>
          <p:cNvSpPr txBox="1"/>
          <p:nvPr/>
        </p:nvSpPr>
        <p:spPr>
          <a:xfrm>
            <a:off x="1097280" y="2651760"/>
            <a:ext cx="1371600" cy="365760"/>
          </a:xfrm>
          <a:prstGeom prst="rect">
            <a:avLst/>
          </a:prstGeom>
          <a:noFill/>
        </p:spPr>
        <p:txBody>
          <a:bodyPr wrap="square">
            <a:spAutoFit/>
          </a:bodyPr>
          <a:lstStyle/>
          <a:p>
            <a:pPr algn="l">
              <a:lnSpc>
                <a:spcPts val="3360"/>
              </a:lnSpc>
              <a:spcAft>
                <a:spcPts val="0"/>
              </a:spcAft>
              <a:defRPr sz="2800" b="1">
                <a:solidFill>
                  <a:srgbClr val="F5F3ED"/>
                </a:solidFill>
                <a:latin typeface="Calibri"/>
              </a:defRPr>
            </a:pPr>
            <a:r>
              <a:t>$4.2B</a:t>
            </a:r>
          </a:p>
        </p:txBody>
      </p:sp>
      <p:sp>
        <p:nvSpPr>
          <p:cNvPr id="10" name="TextBox 9"/>
          <p:cNvSpPr txBox="1"/>
          <p:nvPr/>
        </p:nvSpPr>
        <p:spPr>
          <a:xfrm>
            <a:off x="2286000" y="3474720"/>
            <a:ext cx="1828800" cy="365760"/>
          </a:xfrm>
          <a:prstGeom prst="rect">
            <a:avLst/>
          </a:prstGeom>
          <a:noFill/>
        </p:spPr>
        <p:txBody>
          <a:bodyPr wrap="square">
            <a:spAutoFit/>
          </a:bodyPr>
          <a:lstStyle/>
          <a:p>
            <a:pPr algn="l">
              <a:lnSpc>
                <a:spcPts val="2160"/>
              </a:lnSpc>
              <a:spcAft>
                <a:spcPts val="0"/>
              </a:spcAft>
              <a:defRPr sz="1800" b="1">
                <a:solidFill>
                  <a:srgbClr val="F5F3ED"/>
                </a:solidFill>
                <a:latin typeface="Calibri"/>
              </a:defRPr>
            </a:pPr>
            <a:r>
              <a:t>SAM  $680M</a:t>
            </a:r>
          </a:p>
        </p:txBody>
      </p:sp>
      <p:sp>
        <p:nvSpPr>
          <p:cNvPr id="11" name="TextBox 10"/>
          <p:cNvSpPr txBox="1"/>
          <p:nvPr/>
        </p:nvSpPr>
        <p:spPr>
          <a:xfrm>
            <a:off x="2926080" y="3931920"/>
            <a:ext cx="1645920" cy="365760"/>
          </a:xfrm>
          <a:prstGeom prst="rect">
            <a:avLst/>
          </a:prstGeom>
          <a:noFill/>
        </p:spPr>
        <p:txBody>
          <a:bodyPr wrap="square">
            <a:spAutoFit/>
          </a:bodyPr>
          <a:lstStyle/>
          <a:p>
            <a:pPr algn="l">
              <a:lnSpc>
                <a:spcPts val="1920"/>
              </a:lnSpc>
              <a:spcAft>
                <a:spcPts val="0"/>
              </a:spcAft>
              <a:defRPr sz="1600" b="1">
                <a:solidFill>
                  <a:srgbClr val="FFFFFF"/>
                </a:solidFill>
                <a:latin typeface="Calibri"/>
              </a:defRPr>
            </a:pPr>
            <a:r>
              <a:t>SOM  $2-5M</a:t>
            </a:r>
          </a:p>
        </p:txBody>
      </p:sp>
      <p:sp>
        <p:nvSpPr>
          <p:cNvPr id="12" name="TextBox 11"/>
          <p:cNvSpPr txBox="1"/>
          <p:nvPr/>
        </p:nvSpPr>
        <p:spPr>
          <a:xfrm>
            <a:off x="6858000" y="2286000"/>
            <a:ext cx="4572000" cy="457200"/>
          </a:xfrm>
          <a:prstGeom prst="rect">
            <a:avLst/>
          </a:prstGeom>
          <a:noFill/>
        </p:spPr>
        <p:txBody>
          <a:bodyPr wrap="square">
            <a:spAutoFit/>
          </a:bodyPr>
          <a:lstStyle/>
          <a:p>
            <a:pPr algn="l">
              <a:lnSpc>
                <a:spcPts val="2160"/>
              </a:lnSpc>
              <a:spcAft>
                <a:spcPts val="0"/>
              </a:spcAft>
              <a:defRPr sz="1800" b="1">
                <a:solidFill>
                  <a:srgbClr val="3D1F47"/>
                </a:solidFill>
                <a:latin typeface="Calibri"/>
              </a:defRPr>
            </a:pPr>
            <a:r>
              <a:t>Bottom-Up Methodology</a:t>
            </a:r>
          </a:p>
        </p:txBody>
      </p:sp>
      <p:sp>
        <p:nvSpPr>
          <p:cNvPr id="13" name="TextBox 12"/>
          <p:cNvSpPr txBox="1"/>
          <p:nvPr/>
        </p:nvSpPr>
        <p:spPr>
          <a:xfrm>
            <a:off x="6858000" y="2834640"/>
            <a:ext cx="4572000" cy="32004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60M active runners in the US (Running USA)</a:t>
            </a:r>
          </a:p>
        </p:txBody>
      </p:sp>
      <p:sp>
        <p:nvSpPr>
          <p:cNvPr id="14" name="TextBox 13"/>
          <p:cNvSpPr txBox="1"/>
          <p:nvPr/>
        </p:nvSpPr>
        <p:spPr>
          <a:xfrm>
            <a:off x="6858000" y="3127248"/>
            <a:ext cx="4572000" cy="32004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17M competitive / event participants</a:t>
            </a:r>
          </a:p>
        </p:txBody>
      </p:sp>
      <p:sp>
        <p:nvSpPr>
          <p:cNvPr id="15" name="TextBox 14"/>
          <p:cNvSpPr txBox="1"/>
          <p:nvPr/>
        </p:nvSpPr>
        <p:spPr>
          <a:xfrm>
            <a:off x="6858000" y="3419856"/>
            <a:ext cx="4572000" cy="32004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1-3% free-to-paid conversion (industry benchmark)</a:t>
            </a:r>
          </a:p>
        </p:txBody>
      </p:sp>
      <p:sp>
        <p:nvSpPr>
          <p:cNvPr id="16" name="TextBox 15"/>
          <p:cNvSpPr txBox="1"/>
          <p:nvPr/>
        </p:nvSpPr>
        <p:spPr>
          <a:xfrm>
            <a:off x="6858000" y="3712464"/>
            <a:ext cx="4572000" cy="32004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10M+ US race registrations/year (RunSignUp)</a:t>
            </a:r>
          </a:p>
        </p:txBody>
      </p:sp>
      <p:sp>
        <p:nvSpPr>
          <p:cNvPr id="17" name="TextBox 16"/>
          <p:cNvSpPr txBox="1"/>
          <p:nvPr/>
        </p:nvSpPr>
        <p:spPr>
          <a:xfrm>
            <a:off x="6858000" y="4005072"/>
            <a:ext cx="4572000" cy="32004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TrainingPeaks: 1M+ users, Strava: 120M+</a:t>
            </a:r>
          </a:p>
        </p:txBody>
      </p:sp>
      <p:sp>
        <p:nvSpPr>
          <p:cNvPr id="18" name="TextBox 17"/>
          <p:cNvSpPr txBox="1"/>
          <p:nvPr/>
        </p:nvSpPr>
        <p:spPr>
          <a:xfrm>
            <a:off x="6858000" y="4590288"/>
            <a:ext cx="4572000" cy="320040"/>
          </a:xfrm>
          <a:prstGeom prst="rect">
            <a:avLst/>
          </a:prstGeom>
          <a:noFill/>
        </p:spPr>
        <p:txBody>
          <a:bodyPr wrap="square">
            <a:spAutoFit/>
          </a:bodyPr>
          <a:lstStyle/>
          <a:p>
            <a:pPr algn="l">
              <a:lnSpc>
                <a:spcPts val="1560"/>
              </a:lnSpc>
              <a:spcAft>
                <a:spcPts val="0"/>
              </a:spcAft>
              <a:defRPr sz="1300" b="1">
                <a:solidFill>
                  <a:srgbClr val="FF8B3D"/>
                </a:solidFill>
                <a:latin typeface="Calibri"/>
              </a:defRPr>
            </a:pPr>
            <a:r>
              <a:t>Year 3 target: $470K ARR</a:t>
            </a:r>
          </a:p>
        </p:txBody>
      </p:sp>
      <p:sp>
        <p:nvSpPr>
          <p:cNvPr id="19" name="TextBox 18"/>
          <p:cNvSpPr txBox="1"/>
          <p:nvPr/>
        </p:nvSpPr>
        <p:spPr>
          <a:xfrm>
            <a:off x="6858000" y="4882896"/>
            <a:ext cx="4572000" cy="32004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5,000 B2C subscribers @ $70/yr</a:t>
            </a:r>
          </a:p>
        </p:txBody>
      </p:sp>
      <p:sp>
        <p:nvSpPr>
          <p:cNvPr id="20" name="TextBox 19"/>
          <p:cNvSpPr txBox="1"/>
          <p:nvPr/>
        </p:nvSpPr>
        <p:spPr>
          <a:xfrm>
            <a:off x="6858000" y="5175504"/>
            <a:ext cx="4572000" cy="32004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200 coaches @ $240-600/yr</a:t>
            </a:r>
          </a:p>
        </p:txBody>
      </p:sp>
      <p:sp>
        <p:nvSpPr>
          <p:cNvPr id="21" name="TextBox 20"/>
          <p:cNvSpPr txBox="1"/>
          <p:nvPr/>
        </p:nvSpPr>
        <p:spPr>
          <a:xfrm>
            <a:off x="6858000" y="5760720"/>
            <a:ext cx="4572000" cy="320040"/>
          </a:xfrm>
          <a:prstGeom prst="rect">
            <a:avLst/>
          </a:prstGeom>
          <a:noFill/>
        </p:spPr>
        <p:txBody>
          <a:bodyPr wrap="square">
            <a:spAutoFit/>
          </a:bodyPr>
          <a:lstStyle/>
          <a:p>
            <a:pPr algn="l">
              <a:lnSpc>
                <a:spcPts val="1560"/>
              </a:lnSpc>
              <a:spcAft>
                <a:spcPts val="0"/>
              </a:spcAft>
              <a:defRPr sz="1300" b="1">
                <a:solidFill>
                  <a:srgbClr val="FF8B3D"/>
                </a:solidFill>
                <a:latin typeface="Calibri"/>
              </a:defRPr>
            </a:pPr>
            <a:r>
              <a:t>Year 5 target: $2M-5M ARR</a:t>
            </a:r>
          </a:p>
        </p:txBody>
      </p:sp>
      <p:sp>
        <p:nvSpPr>
          <p:cNvPr id="22" name="TextBox 21"/>
          <p:cNvSpPr txBox="1"/>
          <p:nvPr/>
        </p:nvSpPr>
        <p:spPr>
          <a:xfrm>
            <a:off x="6858000" y="6053328"/>
            <a:ext cx="4572000" cy="32004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Geographic expansion + integration partnerships</a:t>
            </a:r>
          </a:p>
        </p:txBody>
      </p:sp>
      <p:sp>
        <p:nvSpPr>
          <p:cNvPr id="23" name="TextBox 22"/>
          <p:cNvSpPr txBox="1"/>
          <p:nvPr/>
        </p:nvSpPr>
        <p:spPr>
          <a:xfrm>
            <a:off x="11338560" y="6400800"/>
            <a:ext cx="731520" cy="365760"/>
          </a:xfrm>
          <a:prstGeom prst="rect">
            <a:avLst/>
          </a:prstGeom>
          <a:noFill/>
        </p:spPr>
        <p:txBody>
          <a:bodyPr wrap="square">
            <a:spAutoFit/>
          </a:bodyPr>
          <a:lstStyle/>
          <a:p>
            <a:pPr algn="r">
              <a:lnSpc>
                <a:spcPts val="1200"/>
              </a:lnSpc>
              <a:spcAft>
                <a:spcPts val="0"/>
              </a:spcAft>
              <a:defRPr sz="1000" b="0">
                <a:solidFill>
                  <a:srgbClr val="CCCCCC"/>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3D1F4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48640"/>
            <a:ext cx="2743200" cy="45720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TRACTION</a:t>
            </a:r>
          </a:p>
        </p:txBody>
      </p:sp>
      <p:sp>
        <p:nvSpPr>
          <p:cNvPr id="4" name="TextBox 3"/>
          <p:cNvSpPr txBox="1"/>
          <p:nvPr/>
        </p:nvSpPr>
        <p:spPr>
          <a:xfrm>
            <a:off x="1097280" y="1005840"/>
            <a:ext cx="9144000" cy="914400"/>
          </a:xfrm>
          <a:prstGeom prst="rect">
            <a:avLst/>
          </a:prstGeom>
          <a:noFill/>
        </p:spPr>
        <p:txBody>
          <a:bodyPr wrap="square">
            <a:spAutoFit/>
          </a:bodyPr>
          <a:lstStyle/>
          <a:p>
            <a:pPr algn="l">
              <a:lnSpc>
                <a:spcPts val="4320"/>
              </a:lnSpc>
              <a:spcAft>
                <a:spcPts val="0"/>
              </a:spcAft>
              <a:defRPr sz="3600" b="1">
                <a:solidFill>
                  <a:srgbClr val="FFFFFF"/>
                </a:solidFill>
                <a:latin typeface="Calibri"/>
              </a:defRPr>
            </a:pPr>
            <a:r>
              <a:t>Pre-revenue with strong product signals.</a:t>
            </a:r>
          </a:p>
        </p:txBody>
      </p:sp>
      <p:sp>
        <p:nvSpPr>
          <p:cNvPr id="5" name="Rectangle 4"/>
          <p:cNvSpPr/>
          <p:nvPr/>
        </p:nvSpPr>
        <p:spPr>
          <a:xfrm>
            <a:off x="1097280" y="2286000"/>
            <a:ext cx="3108960" cy="1828800"/>
          </a:xfrm>
          <a:prstGeom prst="rect">
            <a:avLst/>
          </a:prstGeom>
          <a:solidFill>
            <a:srgbClr val="4A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560320"/>
            <a:ext cx="2560320" cy="731520"/>
          </a:xfrm>
          <a:prstGeom prst="rect">
            <a:avLst/>
          </a:prstGeom>
          <a:noFill/>
        </p:spPr>
        <p:txBody>
          <a:bodyPr wrap="square">
            <a:spAutoFit/>
          </a:bodyPr>
          <a:lstStyle/>
          <a:p>
            <a:pPr algn="l">
              <a:lnSpc>
                <a:spcPts val="4800"/>
              </a:lnSpc>
              <a:spcAft>
                <a:spcPts val="0"/>
              </a:spcAft>
              <a:defRPr sz="4000" b="1">
                <a:solidFill>
                  <a:srgbClr val="FF8B3D"/>
                </a:solidFill>
                <a:latin typeface="Calibri"/>
              </a:defRPr>
            </a:pPr>
            <a:r>
              <a:t>100-500</a:t>
            </a:r>
          </a:p>
        </p:txBody>
      </p:sp>
      <p:sp>
        <p:nvSpPr>
          <p:cNvPr id="7" name="TextBox 6"/>
          <p:cNvSpPr txBox="1"/>
          <p:nvPr/>
        </p:nvSpPr>
        <p:spPr>
          <a:xfrm>
            <a:off x="1371600" y="3200400"/>
            <a:ext cx="2560320" cy="365760"/>
          </a:xfrm>
          <a:prstGeom prst="rect">
            <a:avLst/>
          </a:prstGeom>
          <a:noFill/>
        </p:spPr>
        <p:txBody>
          <a:bodyPr wrap="square">
            <a:spAutoFit/>
          </a:bodyPr>
          <a:lstStyle/>
          <a:p>
            <a:pPr algn="l">
              <a:lnSpc>
                <a:spcPts val="2160"/>
              </a:lnSpc>
              <a:spcAft>
                <a:spcPts val="0"/>
              </a:spcAft>
              <a:defRPr sz="1800" b="1">
                <a:solidFill>
                  <a:srgbClr val="FFFFFF"/>
                </a:solidFill>
                <a:latin typeface="Calibri"/>
              </a:defRPr>
            </a:pPr>
            <a:r>
              <a:t>Organic Users</a:t>
            </a:r>
          </a:p>
        </p:txBody>
      </p:sp>
      <p:sp>
        <p:nvSpPr>
          <p:cNvPr id="8" name="TextBox 7"/>
          <p:cNvSpPr txBox="1"/>
          <p:nvPr/>
        </p:nvSpPr>
        <p:spPr>
          <a:xfrm>
            <a:off x="1371600" y="3566160"/>
            <a:ext cx="2560320" cy="365760"/>
          </a:xfrm>
          <a:prstGeom prst="rect">
            <a:avLst/>
          </a:prstGeom>
          <a:noFill/>
        </p:spPr>
        <p:txBody>
          <a:bodyPr wrap="square">
            <a:spAutoFit/>
          </a:bodyPr>
          <a:lstStyle/>
          <a:p>
            <a:pPr algn="l">
              <a:lnSpc>
                <a:spcPts val="1560"/>
              </a:lnSpc>
              <a:spcAft>
                <a:spcPts val="0"/>
              </a:spcAft>
              <a:defRPr sz="1300" b="0">
                <a:solidFill>
                  <a:srgbClr val="CCCCCC"/>
                </a:solidFill>
                <a:latin typeface="Calibri"/>
              </a:defRPr>
            </a:pPr>
            <a:r>
              <a:t>Zero paid acquisition</a:t>
            </a:r>
          </a:p>
        </p:txBody>
      </p:sp>
      <p:sp>
        <p:nvSpPr>
          <p:cNvPr id="9" name="Rectangle 8"/>
          <p:cNvSpPr/>
          <p:nvPr/>
        </p:nvSpPr>
        <p:spPr>
          <a:xfrm>
            <a:off x="4572000" y="2286000"/>
            <a:ext cx="3108960" cy="1828800"/>
          </a:xfrm>
          <a:prstGeom prst="rect">
            <a:avLst/>
          </a:prstGeom>
          <a:solidFill>
            <a:srgbClr val="4A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2560320"/>
            <a:ext cx="2560320" cy="731520"/>
          </a:xfrm>
          <a:prstGeom prst="rect">
            <a:avLst/>
          </a:prstGeom>
          <a:noFill/>
        </p:spPr>
        <p:txBody>
          <a:bodyPr wrap="square">
            <a:spAutoFit/>
          </a:bodyPr>
          <a:lstStyle/>
          <a:p>
            <a:pPr algn="l">
              <a:lnSpc>
                <a:spcPts val="4800"/>
              </a:lnSpc>
              <a:spcAft>
                <a:spcPts val="0"/>
              </a:spcAft>
              <a:defRPr sz="4000" b="1">
                <a:solidFill>
                  <a:srgbClr val="FF8B3D"/>
                </a:solidFill>
                <a:latin typeface="Calibri"/>
              </a:defRPr>
            </a:pPr>
            <a:r>
              <a:t>18</a:t>
            </a:r>
          </a:p>
        </p:txBody>
      </p:sp>
      <p:sp>
        <p:nvSpPr>
          <p:cNvPr id="11" name="TextBox 10"/>
          <p:cNvSpPr txBox="1"/>
          <p:nvPr/>
        </p:nvSpPr>
        <p:spPr>
          <a:xfrm>
            <a:off x="4846320" y="3200400"/>
            <a:ext cx="2560320" cy="365760"/>
          </a:xfrm>
          <a:prstGeom prst="rect">
            <a:avLst/>
          </a:prstGeom>
          <a:noFill/>
        </p:spPr>
        <p:txBody>
          <a:bodyPr wrap="square">
            <a:spAutoFit/>
          </a:bodyPr>
          <a:lstStyle/>
          <a:p>
            <a:pPr algn="l">
              <a:lnSpc>
                <a:spcPts val="2160"/>
              </a:lnSpc>
              <a:spcAft>
                <a:spcPts val="0"/>
              </a:spcAft>
              <a:defRPr sz="1800" b="1">
                <a:solidFill>
                  <a:srgbClr val="FFFFFF"/>
                </a:solidFill>
                <a:latin typeface="Calibri"/>
              </a:defRPr>
            </a:pPr>
            <a:r>
              <a:t>Versions Shipped</a:t>
            </a:r>
          </a:p>
        </p:txBody>
      </p:sp>
      <p:sp>
        <p:nvSpPr>
          <p:cNvPr id="12" name="TextBox 11"/>
          <p:cNvSpPr txBox="1"/>
          <p:nvPr/>
        </p:nvSpPr>
        <p:spPr>
          <a:xfrm>
            <a:off x="4846320" y="3566160"/>
            <a:ext cx="2560320" cy="365760"/>
          </a:xfrm>
          <a:prstGeom prst="rect">
            <a:avLst/>
          </a:prstGeom>
          <a:noFill/>
        </p:spPr>
        <p:txBody>
          <a:bodyPr wrap="square">
            <a:spAutoFit/>
          </a:bodyPr>
          <a:lstStyle/>
          <a:p>
            <a:pPr algn="l">
              <a:lnSpc>
                <a:spcPts val="1560"/>
              </a:lnSpc>
              <a:spcAft>
                <a:spcPts val="0"/>
              </a:spcAft>
              <a:defRPr sz="1300" b="0">
                <a:solidFill>
                  <a:srgbClr val="CCCCCC"/>
                </a:solidFill>
                <a:latin typeface="Calibri"/>
              </a:defRPr>
            </a:pPr>
            <a:r>
              <a:t>Rapid iteration since v1.0</a:t>
            </a:r>
          </a:p>
        </p:txBody>
      </p:sp>
      <p:sp>
        <p:nvSpPr>
          <p:cNvPr id="13" name="Rectangle 12"/>
          <p:cNvSpPr/>
          <p:nvPr/>
        </p:nvSpPr>
        <p:spPr>
          <a:xfrm>
            <a:off x="8046719" y="2286000"/>
            <a:ext cx="3108960" cy="1828800"/>
          </a:xfrm>
          <a:prstGeom prst="rect">
            <a:avLst/>
          </a:prstGeom>
          <a:solidFill>
            <a:srgbClr val="4A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39" y="2560320"/>
            <a:ext cx="2560320" cy="731520"/>
          </a:xfrm>
          <a:prstGeom prst="rect">
            <a:avLst/>
          </a:prstGeom>
          <a:noFill/>
        </p:spPr>
        <p:txBody>
          <a:bodyPr wrap="square">
            <a:spAutoFit/>
          </a:bodyPr>
          <a:lstStyle/>
          <a:p>
            <a:pPr algn="l">
              <a:lnSpc>
                <a:spcPts val="4800"/>
              </a:lnSpc>
              <a:spcAft>
                <a:spcPts val="0"/>
              </a:spcAft>
              <a:defRPr sz="4000" b="1">
                <a:solidFill>
                  <a:srgbClr val="FF8B3D"/>
                </a:solidFill>
                <a:latin typeface="Calibri"/>
              </a:defRPr>
            </a:pPr>
            <a:r>
              <a:t>3</a:t>
            </a:r>
          </a:p>
        </p:txBody>
      </p:sp>
      <p:sp>
        <p:nvSpPr>
          <p:cNvPr id="15" name="TextBox 14"/>
          <p:cNvSpPr txBox="1"/>
          <p:nvPr/>
        </p:nvSpPr>
        <p:spPr>
          <a:xfrm>
            <a:off x="8321039" y="3200400"/>
            <a:ext cx="2560320" cy="365760"/>
          </a:xfrm>
          <a:prstGeom prst="rect">
            <a:avLst/>
          </a:prstGeom>
          <a:noFill/>
        </p:spPr>
        <p:txBody>
          <a:bodyPr wrap="square">
            <a:spAutoFit/>
          </a:bodyPr>
          <a:lstStyle/>
          <a:p>
            <a:pPr algn="l">
              <a:lnSpc>
                <a:spcPts val="2160"/>
              </a:lnSpc>
              <a:spcAft>
                <a:spcPts val="0"/>
              </a:spcAft>
              <a:defRPr sz="1800" b="1">
                <a:solidFill>
                  <a:srgbClr val="FFFFFF"/>
                </a:solidFill>
                <a:latin typeface="Calibri"/>
              </a:defRPr>
            </a:pPr>
            <a:r>
              <a:t>Live Integrations</a:t>
            </a:r>
          </a:p>
        </p:txBody>
      </p:sp>
      <p:sp>
        <p:nvSpPr>
          <p:cNvPr id="16" name="TextBox 15"/>
          <p:cNvSpPr txBox="1"/>
          <p:nvPr/>
        </p:nvSpPr>
        <p:spPr>
          <a:xfrm>
            <a:off x="8321039" y="3566160"/>
            <a:ext cx="2560320" cy="365760"/>
          </a:xfrm>
          <a:prstGeom prst="rect">
            <a:avLst/>
          </a:prstGeom>
          <a:noFill/>
        </p:spPr>
        <p:txBody>
          <a:bodyPr wrap="square">
            <a:spAutoFit/>
          </a:bodyPr>
          <a:lstStyle/>
          <a:p>
            <a:pPr algn="l">
              <a:lnSpc>
                <a:spcPts val="1560"/>
              </a:lnSpc>
              <a:spcAft>
                <a:spcPts val="0"/>
              </a:spcAft>
              <a:defRPr sz="1300" b="0">
                <a:solidFill>
                  <a:srgbClr val="CCCCCC"/>
                </a:solidFill>
                <a:latin typeface="Calibri"/>
              </a:defRPr>
            </a:pPr>
            <a:r>
              <a:t>TrainingPeaks, FinalSurge, Garmin</a:t>
            </a:r>
          </a:p>
        </p:txBody>
      </p:sp>
      <p:sp>
        <p:nvSpPr>
          <p:cNvPr id="17" name="Rectangle 16"/>
          <p:cNvSpPr/>
          <p:nvPr/>
        </p:nvSpPr>
        <p:spPr>
          <a:xfrm>
            <a:off x="1097280" y="4480560"/>
            <a:ext cx="3108960" cy="1828800"/>
          </a:xfrm>
          <a:prstGeom prst="rect">
            <a:avLst/>
          </a:prstGeom>
          <a:solidFill>
            <a:srgbClr val="4A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4754880"/>
            <a:ext cx="2560320" cy="731520"/>
          </a:xfrm>
          <a:prstGeom prst="rect">
            <a:avLst/>
          </a:prstGeom>
          <a:noFill/>
        </p:spPr>
        <p:txBody>
          <a:bodyPr wrap="square">
            <a:spAutoFit/>
          </a:bodyPr>
          <a:lstStyle/>
          <a:p>
            <a:pPr algn="l">
              <a:lnSpc>
                <a:spcPts val="4800"/>
              </a:lnSpc>
              <a:spcAft>
                <a:spcPts val="0"/>
              </a:spcAft>
              <a:defRPr sz="4000" b="1">
                <a:solidFill>
                  <a:srgbClr val="FF8B3D"/>
                </a:solidFill>
                <a:latin typeface="Calibri"/>
              </a:defRPr>
            </a:pPr>
            <a:r>
              <a:t>$25K</a:t>
            </a:r>
          </a:p>
        </p:txBody>
      </p:sp>
      <p:sp>
        <p:nvSpPr>
          <p:cNvPr id="19" name="TextBox 18"/>
          <p:cNvSpPr txBox="1"/>
          <p:nvPr/>
        </p:nvSpPr>
        <p:spPr>
          <a:xfrm>
            <a:off x="1371600" y="5394960"/>
            <a:ext cx="2560320" cy="365760"/>
          </a:xfrm>
          <a:prstGeom prst="rect">
            <a:avLst/>
          </a:prstGeom>
          <a:noFill/>
        </p:spPr>
        <p:txBody>
          <a:bodyPr wrap="square">
            <a:spAutoFit/>
          </a:bodyPr>
          <a:lstStyle/>
          <a:p>
            <a:pPr algn="l">
              <a:lnSpc>
                <a:spcPts val="2160"/>
              </a:lnSpc>
              <a:spcAft>
                <a:spcPts val="0"/>
              </a:spcAft>
              <a:defRPr sz="1800" b="1">
                <a:solidFill>
                  <a:srgbClr val="FFFFFF"/>
                </a:solidFill>
                <a:latin typeface="Calibri"/>
              </a:defRPr>
            </a:pPr>
            <a:r>
              <a:t>AL Launchpad Prize</a:t>
            </a:r>
          </a:p>
        </p:txBody>
      </p:sp>
      <p:sp>
        <p:nvSpPr>
          <p:cNvPr id="20" name="TextBox 19"/>
          <p:cNvSpPr txBox="1"/>
          <p:nvPr/>
        </p:nvSpPr>
        <p:spPr>
          <a:xfrm>
            <a:off x="1371600" y="5760720"/>
            <a:ext cx="2560320" cy="365760"/>
          </a:xfrm>
          <a:prstGeom prst="rect">
            <a:avLst/>
          </a:prstGeom>
          <a:noFill/>
        </p:spPr>
        <p:txBody>
          <a:bodyPr wrap="square">
            <a:spAutoFit/>
          </a:bodyPr>
          <a:lstStyle/>
          <a:p>
            <a:pPr algn="l">
              <a:lnSpc>
                <a:spcPts val="1560"/>
              </a:lnSpc>
              <a:spcAft>
                <a:spcPts val="0"/>
              </a:spcAft>
              <a:defRPr sz="1300" b="0">
                <a:solidFill>
                  <a:srgbClr val="CCCCCC"/>
                </a:solidFill>
                <a:latin typeface="Calibri"/>
              </a:defRPr>
            </a:pPr>
            <a:r>
              <a:t>External concept validation</a:t>
            </a:r>
          </a:p>
        </p:txBody>
      </p:sp>
      <p:sp>
        <p:nvSpPr>
          <p:cNvPr id="21" name="Rectangle 20"/>
          <p:cNvSpPr/>
          <p:nvPr/>
        </p:nvSpPr>
        <p:spPr>
          <a:xfrm>
            <a:off x="4572000" y="4480560"/>
            <a:ext cx="3108960" cy="1828800"/>
          </a:xfrm>
          <a:prstGeom prst="rect">
            <a:avLst/>
          </a:prstGeom>
          <a:solidFill>
            <a:srgbClr val="4A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0" y="4754880"/>
            <a:ext cx="2560320" cy="731520"/>
          </a:xfrm>
          <a:prstGeom prst="rect">
            <a:avLst/>
          </a:prstGeom>
          <a:noFill/>
        </p:spPr>
        <p:txBody>
          <a:bodyPr wrap="square">
            <a:spAutoFit/>
          </a:bodyPr>
          <a:lstStyle/>
          <a:p>
            <a:pPr algn="l">
              <a:lnSpc>
                <a:spcPts val="4800"/>
              </a:lnSpc>
              <a:spcAft>
                <a:spcPts val="0"/>
              </a:spcAft>
              <a:defRPr sz="4000" b="1">
                <a:solidFill>
                  <a:srgbClr val="FF8B3D"/>
                </a:solidFill>
                <a:latin typeface="Calibri"/>
              </a:defRPr>
            </a:pPr>
            <a:r>
              <a:t>11</a:t>
            </a:r>
          </a:p>
        </p:txBody>
      </p:sp>
      <p:sp>
        <p:nvSpPr>
          <p:cNvPr id="23" name="TextBox 22"/>
          <p:cNvSpPr txBox="1"/>
          <p:nvPr/>
        </p:nvSpPr>
        <p:spPr>
          <a:xfrm>
            <a:off x="4846320" y="5394960"/>
            <a:ext cx="2560320" cy="365760"/>
          </a:xfrm>
          <a:prstGeom prst="rect">
            <a:avLst/>
          </a:prstGeom>
          <a:noFill/>
        </p:spPr>
        <p:txBody>
          <a:bodyPr wrap="square">
            <a:spAutoFit/>
          </a:bodyPr>
          <a:lstStyle/>
          <a:p>
            <a:pPr algn="l">
              <a:lnSpc>
                <a:spcPts val="2160"/>
              </a:lnSpc>
              <a:spcAft>
                <a:spcPts val="0"/>
              </a:spcAft>
              <a:defRPr sz="1800" b="1">
                <a:solidFill>
                  <a:srgbClr val="FFFFFF"/>
                </a:solidFill>
                <a:latin typeface="Calibri"/>
              </a:defRPr>
            </a:pPr>
            <a:r>
              <a:t>Pro Features Gated</a:t>
            </a:r>
          </a:p>
        </p:txBody>
      </p:sp>
      <p:sp>
        <p:nvSpPr>
          <p:cNvPr id="24" name="TextBox 23"/>
          <p:cNvSpPr txBox="1"/>
          <p:nvPr/>
        </p:nvSpPr>
        <p:spPr>
          <a:xfrm>
            <a:off x="4846320" y="5760720"/>
            <a:ext cx="2560320" cy="365760"/>
          </a:xfrm>
          <a:prstGeom prst="rect">
            <a:avLst/>
          </a:prstGeom>
          <a:noFill/>
        </p:spPr>
        <p:txBody>
          <a:bodyPr wrap="square">
            <a:spAutoFit/>
          </a:bodyPr>
          <a:lstStyle/>
          <a:p>
            <a:pPr algn="l">
              <a:lnSpc>
                <a:spcPts val="1560"/>
              </a:lnSpc>
              <a:spcAft>
                <a:spcPts val="0"/>
              </a:spcAft>
              <a:defRPr sz="1300" b="0">
                <a:solidFill>
                  <a:srgbClr val="CCCCCC"/>
                </a:solidFill>
                <a:latin typeface="Calibri"/>
              </a:defRPr>
            </a:pPr>
            <a:r>
              <a:t>RevenueCat nearly complete</a:t>
            </a:r>
          </a:p>
        </p:txBody>
      </p:sp>
      <p:sp>
        <p:nvSpPr>
          <p:cNvPr id="25" name="Rectangle 24"/>
          <p:cNvSpPr/>
          <p:nvPr/>
        </p:nvSpPr>
        <p:spPr>
          <a:xfrm>
            <a:off x="8046719" y="4480560"/>
            <a:ext cx="3108960" cy="1828800"/>
          </a:xfrm>
          <a:prstGeom prst="rect">
            <a:avLst/>
          </a:prstGeom>
          <a:solidFill>
            <a:srgbClr val="4A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9" y="4754880"/>
            <a:ext cx="2560320" cy="731520"/>
          </a:xfrm>
          <a:prstGeom prst="rect">
            <a:avLst/>
          </a:prstGeom>
          <a:noFill/>
        </p:spPr>
        <p:txBody>
          <a:bodyPr wrap="square">
            <a:spAutoFit/>
          </a:bodyPr>
          <a:lstStyle/>
          <a:p>
            <a:pPr algn="l">
              <a:lnSpc>
                <a:spcPts val="4800"/>
              </a:lnSpc>
              <a:spcAft>
                <a:spcPts val="0"/>
              </a:spcAft>
              <a:defRPr sz="4000" b="1">
                <a:solidFill>
                  <a:srgbClr val="FF8B3D"/>
                </a:solidFill>
                <a:latin typeface="Calibri"/>
              </a:defRPr>
            </a:pPr>
            <a:r>
              <a:t>2</a:t>
            </a:r>
          </a:p>
        </p:txBody>
      </p:sp>
      <p:sp>
        <p:nvSpPr>
          <p:cNvPr id="27" name="TextBox 26"/>
          <p:cNvSpPr txBox="1"/>
          <p:nvPr/>
        </p:nvSpPr>
        <p:spPr>
          <a:xfrm>
            <a:off x="8321039" y="5394960"/>
            <a:ext cx="2560320" cy="365760"/>
          </a:xfrm>
          <a:prstGeom prst="rect">
            <a:avLst/>
          </a:prstGeom>
          <a:noFill/>
        </p:spPr>
        <p:txBody>
          <a:bodyPr wrap="square">
            <a:spAutoFit/>
          </a:bodyPr>
          <a:lstStyle/>
          <a:p>
            <a:pPr algn="l">
              <a:lnSpc>
                <a:spcPts val="2160"/>
              </a:lnSpc>
              <a:spcAft>
                <a:spcPts val="0"/>
              </a:spcAft>
              <a:defRPr sz="1800" b="1">
                <a:solidFill>
                  <a:srgbClr val="FFFFFF"/>
                </a:solidFill>
                <a:latin typeface="Calibri"/>
              </a:defRPr>
            </a:pPr>
            <a:r>
              <a:t>Platforms</a:t>
            </a:r>
          </a:p>
        </p:txBody>
      </p:sp>
      <p:sp>
        <p:nvSpPr>
          <p:cNvPr id="28" name="TextBox 27"/>
          <p:cNvSpPr txBox="1"/>
          <p:nvPr/>
        </p:nvSpPr>
        <p:spPr>
          <a:xfrm>
            <a:off x="8321039" y="5760720"/>
            <a:ext cx="2560320" cy="365760"/>
          </a:xfrm>
          <a:prstGeom prst="rect">
            <a:avLst/>
          </a:prstGeom>
          <a:noFill/>
        </p:spPr>
        <p:txBody>
          <a:bodyPr wrap="square">
            <a:spAutoFit/>
          </a:bodyPr>
          <a:lstStyle/>
          <a:p>
            <a:pPr algn="l">
              <a:lnSpc>
                <a:spcPts val="1560"/>
              </a:lnSpc>
              <a:spcAft>
                <a:spcPts val="0"/>
              </a:spcAft>
              <a:defRPr sz="1300" b="0">
                <a:solidFill>
                  <a:srgbClr val="CCCCCC"/>
                </a:solidFill>
                <a:latin typeface="Calibri"/>
              </a:defRPr>
            </a:pPr>
            <a:r>
              <a:t>iOS + Android + Web portal</a:t>
            </a:r>
          </a:p>
        </p:txBody>
      </p:sp>
      <p:sp>
        <p:nvSpPr>
          <p:cNvPr id="29" name="TextBox 28"/>
          <p:cNvSpPr txBox="1"/>
          <p:nvPr/>
        </p:nvSpPr>
        <p:spPr>
          <a:xfrm>
            <a:off x="11338560" y="6400800"/>
            <a:ext cx="731520" cy="365760"/>
          </a:xfrm>
          <a:prstGeom prst="rect">
            <a:avLst/>
          </a:prstGeom>
          <a:noFill/>
        </p:spPr>
        <p:txBody>
          <a:bodyPr wrap="square">
            <a:spAutoFit/>
          </a:bodyPr>
          <a:lstStyle/>
          <a:p>
            <a:pPr algn="r">
              <a:lnSpc>
                <a:spcPts val="1200"/>
              </a:lnSpc>
              <a:spcAft>
                <a:spcPts val="0"/>
              </a:spcAft>
              <a:defRPr sz="1000" b="0">
                <a:solidFill>
                  <a:srgbClr val="CCCCCC"/>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48640"/>
            <a:ext cx="2743200" cy="45720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BUSINESS MODEL</a:t>
            </a:r>
          </a:p>
        </p:txBody>
      </p:sp>
      <p:sp>
        <p:nvSpPr>
          <p:cNvPr id="4" name="TextBox 3"/>
          <p:cNvSpPr txBox="1"/>
          <p:nvPr/>
        </p:nvSpPr>
        <p:spPr>
          <a:xfrm>
            <a:off x="1097280" y="1005840"/>
            <a:ext cx="9144000" cy="914400"/>
          </a:xfrm>
          <a:prstGeom prst="rect">
            <a:avLst/>
          </a:prstGeom>
          <a:noFill/>
        </p:spPr>
        <p:txBody>
          <a:bodyPr wrap="square">
            <a:spAutoFit/>
          </a:bodyPr>
          <a:lstStyle/>
          <a:p>
            <a:pPr algn="l">
              <a:lnSpc>
                <a:spcPts val="3840"/>
              </a:lnSpc>
              <a:spcAft>
                <a:spcPts val="0"/>
              </a:spcAft>
              <a:defRPr sz="3200" b="1">
                <a:solidFill>
                  <a:srgbClr val="3D1F47"/>
                </a:solidFill>
                <a:latin typeface="Calibri"/>
              </a:defRPr>
            </a:pPr>
            <a:r>
              <a:t>Dual revenue: B2C subscriptions + B2B coach platform.</a:t>
            </a:r>
          </a:p>
        </p:txBody>
      </p:sp>
      <p:sp>
        <p:nvSpPr>
          <p:cNvPr id="5" name="Rectangle 4"/>
          <p:cNvSpPr/>
          <p:nvPr/>
        </p:nvSpPr>
        <p:spPr>
          <a:xfrm>
            <a:off x="1097280" y="2286000"/>
            <a:ext cx="4754880"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0" y="2560320"/>
            <a:ext cx="548640" cy="3810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743200"/>
            <a:ext cx="4114800" cy="457200"/>
          </a:xfrm>
          <a:prstGeom prst="rect">
            <a:avLst/>
          </a:prstGeom>
          <a:noFill/>
        </p:spPr>
        <p:txBody>
          <a:bodyPr wrap="square">
            <a:spAutoFit/>
          </a:bodyPr>
          <a:lstStyle/>
          <a:p>
            <a:pPr algn="l">
              <a:lnSpc>
                <a:spcPts val="2640"/>
              </a:lnSpc>
              <a:spcAft>
                <a:spcPts val="0"/>
              </a:spcAft>
              <a:defRPr sz="2200" b="1">
                <a:solidFill>
                  <a:srgbClr val="3D1F47"/>
                </a:solidFill>
                <a:latin typeface="Calibri"/>
              </a:defRPr>
            </a:pPr>
            <a:r>
              <a:t>B2C — Individual Athletes</a:t>
            </a:r>
          </a:p>
        </p:txBody>
      </p:sp>
      <p:sp>
        <p:nvSpPr>
          <p:cNvPr id="8" name="TextBox 7"/>
          <p:cNvSpPr txBox="1"/>
          <p:nvPr/>
        </p:nvSpPr>
        <p:spPr>
          <a:xfrm>
            <a:off x="1371600" y="329184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Free tier: Basic plan generation + food preferences</a:t>
            </a:r>
          </a:p>
        </p:txBody>
      </p:sp>
      <p:sp>
        <p:nvSpPr>
          <p:cNvPr id="9" name="TextBox 8"/>
          <p:cNvSpPr txBox="1"/>
          <p:nvPr/>
        </p:nvSpPr>
        <p:spPr>
          <a:xfrm>
            <a:off x="1371600" y="3566160"/>
            <a:ext cx="4114800" cy="274320"/>
          </a:xfrm>
          <a:prstGeom prst="rect">
            <a:avLst/>
          </a:prstGeom>
          <a:noFill/>
        </p:spPr>
        <p:txBody>
          <a:bodyPr wrap="square">
            <a:spAutoFit/>
          </a:bodyPr>
          <a:lstStyle/>
          <a:p>
            <a:pPr algn="l">
              <a:lnSpc>
                <a:spcPts val="1560"/>
              </a:lnSpc>
              <a:spcAft>
                <a:spcPts val="0"/>
              </a:spcAft>
              <a:defRPr sz="1300" b="1">
                <a:solidFill>
                  <a:srgbClr val="FF8B3D"/>
                </a:solidFill>
                <a:latin typeface="Calibri"/>
              </a:defRPr>
            </a:pPr>
            <a:r>
              <a:t>Pro tier: $9.99/mo  or  $69.99/yr</a:t>
            </a:r>
          </a:p>
        </p:txBody>
      </p:sp>
      <p:sp>
        <p:nvSpPr>
          <p:cNvPr id="10" name="TextBox 9"/>
          <p:cNvSpPr txBox="1"/>
          <p:nvPr/>
        </p:nvSpPr>
        <p:spPr>
          <a:xfrm>
            <a:off x="1371600" y="411480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Pro features include:</a:t>
            </a:r>
          </a:p>
        </p:txBody>
      </p:sp>
      <p:sp>
        <p:nvSpPr>
          <p:cNvPr id="11" name="TextBox 10"/>
          <p:cNvSpPr txBox="1"/>
          <p:nvPr/>
        </p:nvSpPr>
        <p:spPr>
          <a:xfrm>
            <a:off x="1371600" y="438912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Training platform integrations</a:t>
            </a:r>
          </a:p>
        </p:txBody>
      </p:sp>
      <p:sp>
        <p:nvSpPr>
          <p:cNvPr id="12" name="TextBox 11"/>
          <p:cNvSpPr txBox="1"/>
          <p:nvPr/>
        </p:nvSpPr>
        <p:spPr>
          <a:xfrm>
            <a:off x="1371600" y="466344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Coach Mode access</a:t>
            </a:r>
          </a:p>
        </p:txBody>
      </p:sp>
      <p:sp>
        <p:nvSpPr>
          <p:cNvPr id="13" name="TextBox 12"/>
          <p:cNvSpPr txBox="1"/>
          <p:nvPr/>
        </p:nvSpPr>
        <p:spPr>
          <a:xfrm>
            <a:off x="1371600" y="493776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Brick workout nutrition</a:t>
            </a:r>
          </a:p>
        </p:txBody>
      </p:sp>
      <p:sp>
        <p:nvSpPr>
          <p:cNvPr id="14" name="TextBox 13"/>
          <p:cNvSpPr txBox="1"/>
          <p:nvPr/>
        </p:nvSpPr>
        <p:spPr>
          <a:xfrm>
            <a:off x="1371600" y="521208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Carb-loading protocols</a:t>
            </a:r>
          </a:p>
        </p:txBody>
      </p:sp>
      <p:sp>
        <p:nvSpPr>
          <p:cNvPr id="15" name="TextBox 14"/>
          <p:cNvSpPr txBox="1"/>
          <p:nvPr/>
        </p:nvSpPr>
        <p:spPr>
          <a:xfrm>
            <a:off x="1371600" y="548640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Personal fueling templates</a:t>
            </a:r>
          </a:p>
        </p:txBody>
      </p:sp>
      <p:sp>
        <p:nvSpPr>
          <p:cNvPr id="16" name="TextBox 15"/>
          <p:cNvSpPr txBox="1"/>
          <p:nvPr/>
        </p:nvSpPr>
        <p:spPr>
          <a:xfrm>
            <a:off x="1371600" y="576072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Barcode scanning</a:t>
            </a:r>
          </a:p>
        </p:txBody>
      </p:sp>
      <p:sp>
        <p:nvSpPr>
          <p:cNvPr id="17" name="TextBox 16"/>
          <p:cNvSpPr txBox="1"/>
          <p:nvPr/>
        </p:nvSpPr>
        <p:spPr>
          <a:xfrm>
            <a:off x="1371600" y="630936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Payment via RevenueCat (Apple / Google)</a:t>
            </a:r>
          </a:p>
        </p:txBody>
      </p:sp>
      <p:sp>
        <p:nvSpPr>
          <p:cNvPr id="18" name="Rectangle 17"/>
          <p:cNvSpPr/>
          <p:nvPr/>
        </p:nvSpPr>
        <p:spPr>
          <a:xfrm>
            <a:off x="6400800" y="2286000"/>
            <a:ext cx="4754880"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75120" y="2560320"/>
            <a:ext cx="548640" cy="38100"/>
          </a:xfrm>
          <a:prstGeom prst="rect">
            <a:avLst/>
          </a:prstGeom>
          <a:solidFill>
            <a:srgbClr val="5D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2743200"/>
            <a:ext cx="4114800" cy="457200"/>
          </a:xfrm>
          <a:prstGeom prst="rect">
            <a:avLst/>
          </a:prstGeom>
          <a:noFill/>
        </p:spPr>
        <p:txBody>
          <a:bodyPr wrap="square">
            <a:spAutoFit/>
          </a:bodyPr>
          <a:lstStyle/>
          <a:p>
            <a:pPr algn="l">
              <a:lnSpc>
                <a:spcPts val="2640"/>
              </a:lnSpc>
              <a:spcAft>
                <a:spcPts val="0"/>
              </a:spcAft>
              <a:defRPr sz="2200" b="1">
                <a:solidFill>
                  <a:srgbClr val="3D1F47"/>
                </a:solidFill>
                <a:latin typeface="Calibri"/>
              </a:defRPr>
            </a:pPr>
            <a:r>
              <a:t>B2B — Coaches &amp; Dietitians</a:t>
            </a:r>
          </a:p>
        </p:txBody>
      </p:sp>
      <p:sp>
        <p:nvSpPr>
          <p:cNvPr id="21" name="TextBox 20"/>
          <p:cNvSpPr txBox="1"/>
          <p:nvPr/>
        </p:nvSpPr>
        <p:spPr>
          <a:xfrm>
            <a:off x="6675120" y="3291840"/>
            <a:ext cx="4114800" cy="274320"/>
          </a:xfrm>
          <a:prstGeom prst="rect">
            <a:avLst/>
          </a:prstGeom>
          <a:noFill/>
        </p:spPr>
        <p:txBody>
          <a:bodyPr wrap="square">
            <a:spAutoFit/>
          </a:bodyPr>
          <a:lstStyle/>
          <a:p>
            <a:pPr algn="l">
              <a:lnSpc>
                <a:spcPts val="1560"/>
              </a:lnSpc>
              <a:spcAft>
                <a:spcPts val="0"/>
              </a:spcAft>
              <a:defRPr sz="1300" b="1">
                <a:solidFill>
                  <a:srgbClr val="FF8B3D"/>
                </a:solidFill>
                <a:latin typeface="Calibri"/>
              </a:defRPr>
            </a:pPr>
            <a:r>
              <a:t>Starter: $20/mo (up to 20 athletes)</a:t>
            </a:r>
          </a:p>
        </p:txBody>
      </p:sp>
      <p:sp>
        <p:nvSpPr>
          <p:cNvPr id="22" name="TextBox 21"/>
          <p:cNvSpPr txBox="1"/>
          <p:nvPr/>
        </p:nvSpPr>
        <p:spPr>
          <a:xfrm>
            <a:off x="6675120" y="3566160"/>
            <a:ext cx="4114800" cy="274320"/>
          </a:xfrm>
          <a:prstGeom prst="rect">
            <a:avLst/>
          </a:prstGeom>
          <a:noFill/>
        </p:spPr>
        <p:txBody>
          <a:bodyPr wrap="square">
            <a:spAutoFit/>
          </a:bodyPr>
          <a:lstStyle/>
          <a:p>
            <a:pPr algn="l">
              <a:lnSpc>
                <a:spcPts val="1560"/>
              </a:lnSpc>
              <a:spcAft>
                <a:spcPts val="0"/>
              </a:spcAft>
              <a:defRPr sz="1300" b="1">
                <a:solidFill>
                  <a:srgbClr val="FF8B3D"/>
                </a:solidFill>
                <a:latin typeface="Calibri"/>
              </a:defRPr>
            </a:pPr>
            <a:r>
              <a:t>Pro: $50/mo (unlimited athletes)</a:t>
            </a:r>
          </a:p>
        </p:txBody>
      </p:sp>
      <p:sp>
        <p:nvSpPr>
          <p:cNvPr id="23" name="TextBox 22"/>
          <p:cNvSpPr txBox="1"/>
          <p:nvPr/>
        </p:nvSpPr>
        <p:spPr>
          <a:xfrm>
            <a:off x="6675120" y="411480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Coach Mode includes:</a:t>
            </a:r>
          </a:p>
        </p:txBody>
      </p:sp>
      <p:sp>
        <p:nvSpPr>
          <p:cNvPr id="24" name="TextBox 23"/>
          <p:cNvSpPr txBox="1"/>
          <p:nvPr/>
        </p:nvSpPr>
        <p:spPr>
          <a:xfrm>
            <a:off x="6675120" y="438912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Web dashboard + mobile</a:t>
            </a:r>
          </a:p>
        </p:txBody>
      </p:sp>
      <p:sp>
        <p:nvSpPr>
          <p:cNvPr id="25" name="TextBox 24"/>
          <p:cNvSpPr txBox="1"/>
          <p:nvPr/>
        </p:nvSpPr>
        <p:spPr>
          <a:xfrm>
            <a:off x="6675120" y="466344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Many-to-many athlete management</a:t>
            </a:r>
          </a:p>
        </p:txBody>
      </p:sp>
      <p:sp>
        <p:nvSpPr>
          <p:cNvPr id="26" name="TextBox 25"/>
          <p:cNvSpPr txBox="1"/>
          <p:nvPr/>
        </p:nvSpPr>
        <p:spPr>
          <a:xfrm>
            <a:off x="6675120" y="493776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Plan editing &amp; monitoring</a:t>
            </a:r>
          </a:p>
        </p:txBody>
      </p:sp>
      <p:sp>
        <p:nvSpPr>
          <p:cNvPr id="27" name="TextBox 26"/>
          <p:cNvSpPr txBox="1"/>
          <p:nvPr/>
        </p:nvSpPr>
        <p:spPr>
          <a:xfrm>
            <a:off x="6675120" y="521208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In-app messaging</a:t>
            </a:r>
          </a:p>
        </p:txBody>
      </p:sp>
      <p:sp>
        <p:nvSpPr>
          <p:cNvPr id="28" name="TextBox 27"/>
          <p:cNvSpPr txBox="1"/>
          <p:nvPr/>
        </p:nvSpPr>
        <p:spPr>
          <a:xfrm>
            <a:off x="6675120" y="548640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  Certification verification</a:t>
            </a:r>
          </a:p>
        </p:txBody>
      </p:sp>
      <p:sp>
        <p:nvSpPr>
          <p:cNvPr id="29" name="TextBox 28"/>
          <p:cNvSpPr txBox="1"/>
          <p:nvPr/>
        </p:nvSpPr>
        <p:spPr>
          <a:xfrm>
            <a:off x="6675120" y="603504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Sales: Direct to RRCA / USAT / NASM coaches</a:t>
            </a:r>
          </a:p>
        </p:txBody>
      </p:sp>
      <p:sp>
        <p:nvSpPr>
          <p:cNvPr id="30" name="TextBox 29"/>
          <p:cNvSpPr txBox="1"/>
          <p:nvPr/>
        </p:nvSpPr>
        <p:spPr>
          <a:xfrm>
            <a:off x="6675120" y="6309360"/>
            <a:ext cx="41148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Payment via Stripe</a:t>
            </a:r>
          </a:p>
        </p:txBody>
      </p:sp>
      <p:sp>
        <p:nvSpPr>
          <p:cNvPr id="31" name="TextBox 30"/>
          <p:cNvSpPr txBox="1"/>
          <p:nvPr/>
        </p:nvSpPr>
        <p:spPr>
          <a:xfrm>
            <a:off x="11338560" y="6400800"/>
            <a:ext cx="731520" cy="365760"/>
          </a:xfrm>
          <a:prstGeom prst="rect">
            <a:avLst/>
          </a:prstGeom>
          <a:noFill/>
        </p:spPr>
        <p:txBody>
          <a:bodyPr wrap="square">
            <a:spAutoFit/>
          </a:bodyPr>
          <a:lstStyle/>
          <a:p>
            <a:pPr algn="r">
              <a:lnSpc>
                <a:spcPts val="1200"/>
              </a:lnSpc>
              <a:spcAft>
                <a:spcPts val="0"/>
              </a:spcAft>
              <a:defRPr sz="1000" b="0">
                <a:solidFill>
                  <a:srgbClr val="CCCCCC"/>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3D1F4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48640"/>
            <a:ext cx="2743200" cy="45720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GO-TO-MARKET</a:t>
            </a:r>
          </a:p>
        </p:txBody>
      </p:sp>
      <p:sp>
        <p:nvSpPr>
          <p:cNvPr id="4" name="TextBox 3"/>
          <p:cNvSpPr txBox="1"/>
          <p:nvPr/>
        </p:nvSpPr>
        <p:spPr>
          <a:xfrm>
            <a:off x="1097280" y="1005840"/>
            <a:ext cx="9144000" cy="914400"/>
          </a:xfrm>
          <a:prstGeom prst="rect">
            <a:avLst/>
          </a:prstGeom>
          <a:noFill/>
        </p:spPr>
        <p:txBody>
          <a:bodyPr wrap="square">
            <a:spAutoFit/>
          </a:bodyPr>
          <a:lstStyle/>
          <a:p>
            <a:pPr algn="l">
              <a:lnSpc>
                <a:spcPts val="4320"/>
              </a:lnSpc>
              <a:spcAft>
                <a:spcPts val="0"/>
              </a:spcAft>
              <a:defRPr sz="3600" b="1">
                <a:solidFill>
                  <a:srgbClr val="FFFFFF"/>
                </a:solidFill>
                <a:latin typeface="Calibri"/>
              </a:defRPr>
            </a:pPr>
            <a:r>
              <a:t>Three channels to first 1,000 users.</a:t>
            </a:r>
          </a:p>
        </p:txBody>
      </p:sp>
      <p:sp>
        <p:nvSpPr>
          <p:cNvPr id="5" name="Rectangle 4"/>
          <p:cNvSpPr/>
          <p:nvPr/>
        </p:nvSpPr>
        <p:spPr>
          <a:xfrm>
            <a:off x="1097280" y="2286000"/>
            <a:ext cx="3108960" cy="3931920"/>
          </a:xfrm>
          <a:prstGeom prst="rect">
            <a:avLst/>
          </a:prstGeom>
          <a:solidFill>
            <a:srgbClr val="4A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371600" y="2560320"/>
            <a:ext cx="457200" cy="457200"/>
          </a:xfrm>
          <a:prstGeom prst="ellipse">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1</a:t>
            </a:r>
          </a:p>
        </p:txBody>
      </p:sp>
      <p:sp>
        <p:nvSpPr>
          <p:cNvPr id="7" name="TextBox 6"/>
          <p:cNvSpPr txBox="1"/>
          <p:nvPr/>
        </p:nvSpPr>
        <p:spPr>
          <a:xfrm>
            <a:off x="1371600" y="3200400"/>
            <a:ext cx="2560320" cy="640080"/>
          </a:xfrm>
          <a:prstGeom prst="rect">
            <a:avLst/>
          </a:prstGeom>
          <a:noFill/>
        </p:spPr>
        <p:txBody>
          <a:bodyPr wrap="square">
            <a:spAutoFit/>
          </a:bodyPr>
          <a:lstStyle/>
          <a:p>
            <a:pPr algn="l">
              <a:lnSpc>
                <a:spcPts val="2160"/>
              </a:lnSpc>
              <a:spcAft>
                <a:spcPts val="0"/>
              </a:spcAft>
              <a:defRPr sz="1800" b="1">
                <a:solidFill>
                  <a:srgbClr val="5DE4D3"/>
                </a:solidFill>
                <a:latin typeface="Calibri"/>
              </a:defRPr>
            </a:pPr>
            <a:r>
              <a:t>App Store + Paid Acquisition</a:t>
            </a:r>
          </a:p>
        </p:txBody>
      </p:sp>
      <p:sp>
        <p:nvSpPr>
          <p:cNvPr id="8" name="TextBox 7"/>
          <p:cNvSpPr txBox="1"/>
          <p:nvPr/>
        </p:nvSpPr>
        <p:spPr>
          <a:xfrm>
            <a:off x="1371600" y="3840480"/>
            <a:ext cx="2560320" cy="1645920"/>
          </a:xfrm>
          <a:prstGeom prst="rect">
            <a:avLst/>
          </a:prstGeom>
          <a:noFill/>
        </p:spPr>
        <p:txBody>
          <a:bodyPr wrap="square">
            <a:spAutoFit/>
          </a:bodyPr>
          <a:lstStyle/>
          <a:p>
            <a:pPr algn="l">
              <a:lnSpc>
                <a:spcPts val="1820"/>
              </a:lnSpc>
              <a:spcAft>
                <a:spcPts val="0"/>
              </a:spcAft>
              <a:defRPr sz="1300" b="0">
                <a:solidFill>
                  <a:srgbClr val="F5F3ED"/>
                </a:solidFill>
                <a:latin typeface="Calibri"/>
              </a:defRPr>
            </a:pPr>
            <a:r>
              <a:t>Apple Search Ads and Google Ads targeting endurance keywords (marathon nutrition, race fueling, triathlon nutrition plan). Establish cost-per-install baseline.</a:t>
            </a:r>
          </a:p>
        </p:txBody>
      </p:sp>
      <p:sp>
        <p:nvSpPr>
          <p:cNvPr id="9" name="TextBox 8"/>
          <p:cNvSpPr txBox="1"/>
          <p:nvPr/>
        </p:nvSpPr>
        <p:spPr>
          <a:xfrm>
            <a:off x="1371600" y="5577840"/>
            <a:ext cx="2560320" cy="36576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Target: 500+ installs</a:t>
            </a:r>
          </a:p>
        </p:txBody>
      </p:sp>
      <p:sp>
        <p:nvSpPr>
          <p:cNvPr id="10" name="Rectangle 9"/>
          <p:cNvSpPr/>
          <p:nvPr/>
        </p:nvSpPr>
        <p:spPr>
          <a:xfrm>
            <a:off x="4572000" y="2286000"/>
            <a:ext cx="3108960" cy="3931920"/>
          </a:xfrm>
          <a:prstGeom prst="rect">
            <a:avLst/>
          </a:prstGeom>
          <a:solidFill>
            <a:srgbClr val="4A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846320" y="2560320"/>
            <a:ext cx="457200" cy="457200"/>
          </a:xfrm>
          <a:prstGeom prst="ellipse">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2</a:t>
            </a:r>
          </a:p>
        </p:txBody>
      </p:sp>
      <p:sp>
        <p:nvSpPr>
          <p:cNvPr id="12" name="TextBox 11"/>
          <p:cNvSpPr txBox="1"/>
          <p:nvPr/>
        </p:nvSpPr>
        <p:spPr>
          <a:xfrm>
            <a:off x="4846320" y="3200400"/>
            <a:ext cx="2560320" cy="640080"/>
          </a:xfrm>
          <a:prstGeom prst="rect">
            <a:avLst/>
          </a:prstGeom>
          <a:noFill/>
        </p:spPr>
        <p:txBody>
          <a:bodyPr wrap="square">
            <a:spAutoFit/>
          </a:bodyPr>
          <a:lstStyle/>
          <a:p>
            <a:pPr algn="l">
              <a:lnSpc>
                <a:spcPts val="2160"/>
              </a:lnSpc>
              <a:spcAft>
                <a:spcPts val="0"/>
              </a:spcAft>
              <a:defRPr sz="1800" b="1">
                <a:solidFill>
                  <a:srgbClr val="5DE4D3"/>
                </a:solidFill>
                <a:latin typeface="Calibri"/>
              </a:defRPr>
            </a:pPr>
            <a:r>
              <a:t>Coach Network Effect</a:t>
            </a:r>
          </a:p>
        </p:txBody>
      </p:sp>
      <p:sp>
        <p:nvSpPr>
          <p:cNvPr id="13" name="TextBox 12"/>
          <p:cNvSpPr txBox="1"/>
          <p:nvPr/>
        </p:nvSpPr>
        <p:spPr>
          <a:xfrm>
            <a:off x="4846320" y="3840480"/>
            <a:ext cx="2560320" cy="1645920"/>
          </a:xfrm>
          <a:prstGeom prst="rect">
            <a:avLst/>
          </a:prstGeom>
          <a:noFill/>
        </p:spPr>
        <p:txBody>
          <a:bodyPr wrap="square">
            <a:spAutoFit/>
          </a:bodyPr>
          <a:lstStyle/>
          <a:p>
            <a:pPr algn="l">
              <a:lnSpc>
                <a:spcPts val="1820"/>
              </a:lnSpc>
              <a:spcAft>
                <a:spcPts val="0"/>
              </a:spcAft>
              <a:defRPr sz="1300" b="0">
                <a:solidFill>
                  <a:srgbClr val="F5F3ED"/>
                </a:solidFill>
                <a:latin typeface="Calibri"/>
              </a:defRPr>
            </a:pPr>
            <a:r>
              <a:t>Onboard 10+ certified coaches (RRCA, USAT). Each coach brings 10-50 athletes. Built-in viral distribution through coach-athlete relationships.</a:t>
            </a:r>
          </a:p>
        </p:txBody>
      </p:sp>
      <p:sp>
        <p:nvSpPr>
          <p:cNvPr id="14" name="TextBox 13"/>
          <p:cNvSpPr txBox="1"/>
          <p:nvPr/>
        </p:nvSpPr>
        <p:spPr>
          <a:xfrm>
            <a:off x="4846320" y="5577840"/>
            <a:ext cx="2560320" cy="36576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Target: 200+ athletes via coaches</a:t>
            </a:r>
          </a:p>
        </p:txBody>
      </p:sp>
      <p:sp>
        <p:nvSpPr>
          <p:cNvPr id="15" name="Rectangle 14"/>
          <p:cNvSpPr/>
          <p:nvPr/>
        </p:nvSpPr>
        <p:spPr>
          <a:xfrm>
            <a:off x="8046719" y="2286000"/>
            <a:ext cx="3108960" cy="3931920"/>
          </a:xfrm>
          <a:prstGeom prst="rect">
            <a:avLst/>
          </a:prstGeom>
          <a:solidFill>
            <a:srgbClr val="4A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21039" y="2560320"/>
            <a:ext cx="457200" cy="457200"/>
          </a:xfrm>
          <a:prstGeom prst="ellipse">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3</a:t>
            </a:r>
          </a:p>
        </p:txBody>
      </p:sp>
      <p:sp>
        <p:nvSpPr>
          <p:cNvPr id="17" name="TextBox 16"/>
          <p:cNvSpPr txBox="1"/>
          <p:nvPr/>
        </p:nvSpPr>
        <p:spPr>
          <a:xfrm>
            <a:off x="8321039" y="3200400"/>
            <a:ext cx="2560320" cy="640080"/>
          </a:xfrm>
          <a:prstGeom prst="rect">
            <a:avLst/>
          </a:prstGeom>
          <a:noFill/>
        </p:spPr>
        <p:txBody>
          <a:bodyPr wrap="square">
            <a:spAutoFit/>
          </a:bodyPr>
          <a:lstStyle/>
          <a:p>
            <a:pPr algn="l">
              <a:lnSpc>
                <a:spcPts val="2160"/>
              </a:lnSpc>
              <a:spcAft>
                <a:spcPts val="0"/>
              </a:spcAft>
              <a:defRPr sz="1800" b="1">
                <a:solidFill>
                  <a:srgbClr val="5DE4D3"/>
                </a:solidFill>
                <a:latin typeface="Calibri"/>
              </a:defRPr>
            </a:pPr>
            <a:r>
              <a:t>Event Partnerships</a:t>
            </a:r>
          </a:p>
        </p:txBody>
      </p:sp>
      <p:sp>
        <p:nvSpPr>
          <p:cNvPr id="18" name="TextBox 17"/>
          <p:cNvSpPr txBox="1"/>
          <p:nvPr/>
        </p:nvSpPr>
        <p:spPr>
          <a:xfrm>
            <a:off x="8321039" y="3840480"/>
            <a:ext cx="2560320" cy="1645920"/>
          </a:xfrm>
          <a:prstGeom prst="rect">
            <a:avLst/>
          </a:prstGeom>
          <a:noFill/>
        </p:spPr>
        <p:txBody>
          <a:bodyPr wrap="square">
            <a:spAutoFit/>
          </a:bodyPr>
          <a:lstStyle/>
          <a:p>
            <a:pPr algn="l">
              <a:lnSpc>
                <a:spcPts val="1820"/>
              </a:lnSpc>
              <a:spcAft>
                <a:spcPts val="0"/>
              </a:spcAft>
              <a:defRPr sz="1300" b="0">
                <a:solidFill>
                  <a:srgbClr val="F5F3ED"/>
                </a:solidFill>
                <a:latin typeface="Calibri"/>
              </a:defRPr>
            </a:pPr>
            <a:r>
              <a:t>Partner with regional race organizers (Mercedes Marathon, Vulcan Run) to offer Mealvana as value-add to registered participants. Batch user acquisition.</a:t>
            </a:r>
          </a:p>
        </p:txBody>
      </p:sp>
      <p:sp>
        <p:nvSpPr>
          <p:cNvPr id="19" name="TextBox 18"/>
          <p:cNvSpPr txBox="1"/>
          <p:nvPr/>
        </p:nvSpPr>
        <p:spPr>
          <a:xfrm>
            <a:off x="8321039" y="5577840"/>
            <a:ext cx="2560320" cy="36576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Target: 300+ event users</a:t>
            </a:r>
          </a:p>
        </p:txBody>
      </p:sp>
      <p:sp>
        <p:nvSpPr>
          <p:cNvPr id="20" name="TextBox 19"/>
          <p:cNvSpPr txBox="1"/>
          <p:nvPr/>
        </p:nvSpPr>
        <p:spPr>
          <a:xfrm>
            <a:off x="11338560" y="6400800"/>
            <a:ext cx="731520" cy="365760"/>
          </a:xfrm>
          <a:prstGeom prst="rect">
            <a:avLst/>
          </a:prstGeom>
          <a:noFill/>
        </p:spPr>
        <p:txBody>
          <a:bodyPr wrap="square">
            <a:spAutoFit/>
          </a:bodyPr>
          <a:lstStyle/>
          <a:p>
            <a:pPr algn="r">
              <a:lnSpc>
                <a:spcPts val="1200"/>
              </a:lnSpc>
              <a:spcAft>
                <a:spcPts val="0"/>
              </a:spcAft>
              <a:defRPr sz="1000" b="0">
                <a:solidFill>
                  <a:srgbClr val="CCCCCC"/>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48640"/>
            <a:ext cx="2743200" cy="45720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COMPETITION</a:t>
            </a:r>
          </a:p>
        </p:txBody>
      </p:sp>
      <p:sp>
        <p:nvSpPr>
          <p:cNvPr id="4" name="TextBox 3"/>
          <p:cNvSpPr txBox="1"/>
          <p:nvPr/>
        </p:nvSpPr>
        <p:spPr>
          <a:xfrm>
            <a:off x="1097280" y="1005840"/>
            <a:ext cx="9144000" cy="914400"/>
          </a:xfrm>
          <a:prstGeom prst="rect">
            <a:avLst/>
          </a:prstGeom>
          <a:noFill/>
        </p:spPr>
        <p:txBody>
          <a:bodyPr wrap="square">
            <a:spAutoFit/>
          </a:bodyPr>
          <a:lstStyle/>
          <a:p>
            <a:pPr algn="l">
              <a:lnSpc>
                <a:spcPts val="3840"/>
              </a:lnSpc>
              <a:spcAft>
                <a:spcPts val="0"/>
              </a:spcAft>
              <a:defRPr sz="3200" b="1">
                <a:solidFill>
                  <a:srgbClr val="3D1F47"/>
                </a:solidFill>
                <a:latin typeface="Calibri"/>
              </a:defRPr>
            </a:pPr>
            <a:r>
              <a:t>We win on depth, personalization, and the coach platform.</a:t>
            </a:r>
          </a:p>
        </p:txBody>
      </p:sp>
      <p:sp>
        <p:nvSpPr>
          <p:cNvPr id="5" name="Rectangle 4"/>
          <p:cNvSpPr/>
          <p:nvPr/>
        </p:nvSpPr>
        <p:spPr>
          <a:xfrm>
            <a:off x="1097280" y="2286000"/>
            <a:ext cx="2148840" cy="411480"/>
          </a:xfrm>
          <a:prstGeom prst="rect">
            <a:avLst/>
          </a:prstGeom>
          <a:solidFill>
            <a:srgbClr val="3D1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331720"/>
            <a:ext cx="1920240" cy="411480"/>
          </a:xfrm>
          <a:prstGeom prst="rect">
            <a:avLst/>
          </a:prstGeom>
          <a:noFill/>
        </p:spPr>
        <p:txBody>
          <a:bodyPr wrap="square">
            <a:spAutoFit/>
          </a:bodyPr>
          <a:lstStyle/>
          <a:p>
            <a:pPr algn="ctr">
              <a:lnSpc>
                <a:spcPts val="1560"/>
              </a:lnSpc>
              <a:spcAft>
                <a:spcPts val="0"/>
              </a:spcAft>
              <a:defRPr sz="1300" b="1">
                <a:solidFill>
                  <a:srgbClr val="FFFFFF"/>
                </a:solidFill>
                <a:latin typeface="Calibri"/>
              </a:defRPr>
            </a:pPr>
            <a:r>
              <a:t>Feature</a:t>
            </a:r>
          </a:p>
        </p:txBody>
      </p:sp>
      <p:sp>
        <p:nvSpPr>
          <p:cNvPr id="7" name="Rectangle 6"/>
          <p:cNvSpPr/>
          <p:nvPr/>
        </p:nvSpPr>
        <p:spPr>
          <a:xfrm>
            <a:off x="3291840" y="2286000"/>
            <a:ext cx="2148840" cy="411480"/>
          </a:xfrm>
          <a:prstGeom prst="rect">
            <a:avLst/>
          </a:prstGeom>
          <a:solidFill>
            <a:srgbClr val="3D1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2331720"/>
            <a:ext cx="1920240" cy="411480"/>
          </a:xfrm>
          <a:prstGeom prst="rect">
            <a:avLst/>
          </a:prstGeom>
          <a:noFill/>
        </p:spPr>
        <p:txBody>
          <a:bodyPr wrap="square">
            <a:spAutoFit/>
          </a:bodyPr>
          <a:lstStyle/>
          <a:p>
            <a:pPr algn="ctr">
              <a:lnSpc>
                <a:spcPts val="1560"/>
              </a:lnSpc>
              <a:spcAft>
                <a:spcPts val="0"/>
              </a:spcAft>
              <a:defRPr sz="1300" b="1">
                <a:solidFill>
                  <a:srgbClr val="FF8B3D"/>
                </a:solidFill>
                <a:latin typeface="Calibri"/>
              </a:defRPr>
            </a:pPr>
            <a:r>
              <a:t>Mealvana</a:t>
            </a:r>
          </a:p>
        </p:txBody>
      </p:sp>
      <p:sp>
        <p:nvSpPr>
          <p:cNvPr id="9" name="Rectangle 8"/>
          <p:cNvSpPr/>
          <p:nvPr/>
        </p:nvSpPr>
        <p:spPr>
          <a:xfrm>
            <a:off x="5486400" y="2286000"/>
            <a:ext cx="2148840" cy="411480"/>
          </a:xfrm>
          <a:prstGeom prst="rect">
            <a:avLst/>
          </a:prstGeom>
          <a:solidFill>
            <a:srgbClr val="3D1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23560" y="2331720"/>
            <a:ext cx="1920240" cy="411480"/>
          </a:xfrm>
          <a:prstGeom prst="rect">
            <a:avLst/>
          </a:prstGeom>
          <a:noFill/>
        </p:spPr>
        <p:txBody>
          <a:bodyPr wrap="square">
            <a:spAutoFit/>
          </a:bodyPr>
          <a:lstStyle/>
          <a:p>
            <a:pPr algn="ctr">
              <a:lnSpc>
                <a:spcPts val="1560"/>
              </a:lnSpc>
              <a:spcAft>
                <a:spcPts val="0"/>
              </a:spcAft>
              <a:defRPr sz="1300" b="1">
                <a:solidFill>
                  <a:srgbClr val="FFFFFF"/>
                </a:solidFill>
                <a:latin typeface="Calibri"/>
              </a:defRPr>
            </a:pPr>
            <a:r>
              <a:t>Fuelin</a:t>
            </a:r>
          </a:p>
        </p:txBody>
      </p:sp>
      <p:sp>
        <p:nvSpPr>
          <p:cNvPr id="11" name="Rectangle 10"/>
          <p:cNvSpPr/>
          <p:nvPr/>
        </p:nvSpPr>
        <p:spPr>
          <a:xfrm>
            <a:off x="7680960" y="2286000"/>
            <a:ext cx="2148840" cy="411480"/>
          </a:xfrm>
          <a:prstGeom prst="rect">
            <a:avLst/>
          </a:prstGeom>
          <a:solidFill>
            <a:srgbClr val="3D1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2331720"/>
            <a:ext cx="1920240" cy="411480"/>
          </a:xfrm>
          <a:prstGeom prst="rect">
            <a:avLst/>
          </a:prstGeom>
          <a:noFill/>
        </p:spPr>
        <p:txBody>
          <a:bodyPr wrap="square">
            <a:spAutoFit/>
          </a:bodyPr>
          <a:lstStyle/>
          <a:p>
            <a:pPr algn="ctr">
              <a:lnSpc>
                <a:spcPts val="1560"/>
              </a:lnSpc>
              <a:spcAft>
                <a:spcPts val="0"/>
              </a:spcAft>
              <a:defRPr sz="1300" b="1">
                <a:solidFill>
                  <a:srgbClr val="FFFFFF"/>
                </a:solidFill>
                <a:latin typeface="Calibri"/>
              </a:defRPr>
            </a:pPr>
            <a:r>
              <a:t>Hexis</a:t>
            </a:r>
          </a:p>
        </p:txBody>
      </p:sp>
      <p:sp>
        <p:nvSpPr>
          <p:cNvPr id="13" name="Rectangle 12"/>
          <p:cNvSpPr/>
          <p:nvPr/>
        </p:nvSpPr>
        <p:spPr>
          <a:xfrm>
            <a:off x="9875520" y="2286000"/>
            <a:ext cx="2148840" cy="411480"/>
          </a:xfrm>
          <a:prstGeom prst="rect">
            <a:avLst/>
          </a:prstGeom>
          <a:solidFill>
            <a:srgbClr val="3D1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12680" y="2331720"/>
            <a:ext cx="1920240" cy="411480"/>
          </a:xfrm>
          <a:prstGeom prst="rect">
            <a:avLst/>
          </a:prstGeom>
          <a:noFill/>
        </p:spPr>
        <p:txBody>
          <a:bodyPr wrap="square">
            <a:spAutoFit/>
          </a:bodyPr>
          <a:lstStyle/>
          <a:p>
            <a:pPr algn="ctr">
              <a:lnSpc>
                <a:spcPts val="1560"/>
              </a:lnSpc>
              <a:spcAft>
                <a:spcPts val="0"/>
              </a:spcAft>
              <a:defRPr sz="1300" b="1">
                <a:solidFill>
                  <a:srgbClr val="FFFFFF"/>
                </a:solidFill>
                <a:latin typeface="Calibri"/>
              </a:defRPr>
            </a:pPr>
            <a:r>
              <a:t>MFP/Cronometer</a:t>
            </a:r>
          </a:p>
        </p:txBody>
      </p:sp>
      <p:sp>
        <p:nvSpPr>
          <p:cNvPr id="15" name="Rectangle 14"/>
          <p:cNvSpPr/>
          <p:nvPr/>
        </p:nvSpPr>
        <p:spPr>
          <a:xfrm>
            <a:off x="1097280" y="269748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2743200"/>
            <a:ext cx="1920240" cy="411480"/>
          </a:xfrm>
          <a:prstGeom prst="rect">
            <a:avLst/>
          </a:prstGeom>
          <a:noFill/>
        </p:spPr>
        <p:txBody>
          <a:bodyPr wrap="square">
            <a:spAutoFit/>
          </a:bodyPr>
          <a:lstStyle/>
          <a:p>
            <a:pPr algn="l">
              <a:lnSpc>
                <a:spcPts val="1439"/>
              </a:lnSpc>
              <a:spcAft>
                <a:spcPts val="0"/>
              </a:spcAft>
              <a:defRPr sz="1200" b="0">
                <a:solidFill>
                  <a:srgbClr val="381633"/>
                </a:solidFill>
                <a:latin typeface="Calibri"/>
              </a:defRPr>
            </a:pPr>
            <a:r>
              <a:t>Race-day fueling plans</a:t>
            </a:r>
          </a:p>
        </p:txBody>
      </p:sp>
      <p:sp>
        <p:nvSpPr>
          <p:cNvPr id="17" name="Rectangle 16"/>
          <p:cNvSpPr/>
          <p:nvPr/>
        </p:nvSpPr>
        <p:spPr>
          <a:xfrm>
            <a:off x="3291840" y="269748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9000" y="2743200"/>
            <a:ext cx="1920240" cy="411480"/>
          </a:xfrm>
          <a:prstGeom prst="rect">
            <a:avLst/>
          </a:prstGeom>
          <a:noFill/>
        </p:spPr>
        <p:txBody>
          <a:bodyPr wrap="square">
            <a:spAutoFit/>
          </a:bodyPr>
          <a:lstStyle/>
          <a:p>
            <a:pPr algn="ctr">
              <a:lnSpc>
                <a:spcPts val="1439"/>
              </a:lnSpc>
              <a:spcAft>
                <a:spcPts val="0"/>
              </a:spcAft>
              <a:defRPr sz="1200" b="1">
                <a:solidFill>
                  <a:srgbClr val="22AA22"/>
                </a:solidFill>
                <a:latin typeface="Calibri"/>
              </a:defRPr>
            </a:pPr>
            <a:r>
              <a:t>✓</a:t>
            </a:r>
          </a:p>
        </p:txBody>
      </p:sp>
      <p:sp>
        <p:nvSpPr>
          <p:cNvPr id="19" name="Rectangle 18"/>
          <p:cNvSpPr/>
          <p:nvPr/>
        </p:nvSpPr>
        <p:spPr>
          <a:xfrm>
            <a:off x="5486400" y="269748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23560" y="2743200"/>
            <a:ext cx="1920240" cy="411480"/>
          </a:xfrm>
          <a:prstGeom prst="rect">
            <a:avLst/>
          </a:prstGeom>
          <a:noFill/>
        </p:spPr>
        <p:txBody>
          <a:bodyPr wrap="square">
            <a:spAutoFit/>
          </a:bodyPr>
          <a:lstStyle/>
          <a:p>
            <a:pPr algn="ctr">
              <a:lnSpc>
                <a:spcPts val="1439"/>
              </a:lnSpc>
              <a:spcAft>
                <a:spcPts val="0"/>
              </a:spcAft>
              <a:defRPr sz="1200" b="0">
                <a:solidFill>
                  <a:srgbClr val="381633"/>
                </a:solidFill>
                <a:latin typeface="Calibri"/>
              </a:defRPr>
            </a:pPr>
            <a:r>
              <a:t>Partial</a:t>
            </a:r>
          </a:p>
        </p:txBody>
      </p:sp>
      <p:sp>
        <p:nvSpPr>
          <p:cNvPr id="21" name="Rectangle 20"/>
          <p:cNvSpPr/>
          <p:nvPr/>
        </p:nvSpPr>
        <p:spPr>
          <a:xfrm>
            <a:off x="7680960" y="269748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18120" y="274320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23" name="Rectangle 22"/>
          <p:cNvSpPr/>
          <p:nvPr/>
        </p:nvSpPr>
        <p:spPr>
          <a:xfrm>
            <a:off x="9875520" y="269748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12680" y="274320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25" name="Rectangle 24"/>
          <p:cNvSpPr/>
          <p:nvPr/>
        </p:nvSpPr>
        <p:spPr>
          <a:xfrm>
            <a:off x="1097280" y="310896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3154680"/>
            <a:ext cx="1920240" cy="411480"/>
          </a:xfrm>
          <a:prstGeom prst="rect">
            <a:avLst/>
          </a:prstGeom>
          <a:noFill/>
        </p:spPr>
        <p:txBody>
          <a:bodyPr wrap="square">
            <a:spAutoFit/>
          </a:bodyPr>
          <a:lstStyle/>
          <a:p>
            <a:pPr algn="l">
              <a:lnSpc>
                <a:spcPts val="1439"/>
              </a:lnSpc>
              <a:spcAft>
                <a:spcPts val="0"/>
              </a:spcAft>
              <a:defRPr sz="1200" b="0">
                <a:solidFill>
                  <a:srgbClr val="381633"/>
                </a:solidFill>
                <a:latin typeface="Calibri"/>
              </a:defRPr>
            </a:pPr>
            <a:r>
              <a:t>Food preference learning</a:t>
            </a:r>
          </a:p>
        </p:txBody>
      </p:sp>
      <p:sp>
        <p:nvSpPr>
          <p:cNvPr id="27" name="Rectangle 26"/>
          <p:cNvSpPr/>
          <p:nvPr/>
        </p:nvSpPr>
        <p:spPr>
          <a:xfrm>
            <a:off x="3291840" y="310896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29000" y="3154680"/>
            <a:ext cx="1920240" cy="411480"/>
          </a:xfrm>
          <a:prstGeom prst="rect">
            <a:avLst/>
          </a:prstGeom>
          <a:noFill/>
        </p:spPr>
        <p:txBody>
          <a:bodyPr wrap="square">
            <a:spAutoFit/>
          </a:bodyPr>
          <a:lstStyle/>
          <a:p>
            <a:pPr algn="ctr">
              <a:lnSpc>
                <a:spcPts val="1439"/>
              </a:lnSpc>
              <a:spcAft>
                <a:spcPts val="0"/>
              </a:spcAft>
              <a:defRPr sz="1200" b="1">
                <a:solidFill>
                  <a:srgbClr val="22AA22"/>
                </a:solidFill>
                <a:latin typeface="Calibri"/>
              </a:defRPr>
            </a:pPr>
            <a:r>
              <a:t>✓</a:t>
            </a:r>
          </a:p>
        </p:txBody>
      </p:sp>
      <p:sp>
        <p:nvSpPr>
          <p:cNvPr id="29" name="Rectangle 28"/>
          <p:cNvSpPr/>
          <p:nvPr/>
        </p:nvSpPr>
        <p:spPr>
          <a:xfrm>
            <a:off x="5486400" y="310896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23560" y="315468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31" name="Rectangle 30"/>
          <p:cNvSpPr/>
          <p:nvPr/>
        </p:nvSpPr>
        <p:spPr>
          <a:xfrm>
            <a:off x="7680960" y="310896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18120" y="315468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33" name="Rectangle 32"/>
          <p:cNvSpPr/>
          <p:nvPr/>
        </p:nvSpPr>
        <p:spPr>
          <a:xfrm>
            <a:off x="9875520" y="310896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12680" y="315468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35" name="Rectangle 34"/>
          <p:cNvSpPr/>
          <p:nvPr/>
        </p:nvSpPr>
        <p:spPr>
          <a:xfrm>
            <a:off x="1097280" y="352044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3566160"/>
            <a:ext cx="1920240" cy="411480"/>
          </a:xfrm>
          <a:prstGeom prst="rect">
            <a:avLst/>
          </a:prstGeom>
          <a:noFill/>
        </p:spPr>
        <p:txBody>
          <a:bodyPr wrap="square">
            <a:spAutoFit/>
          </a:bodyPr>
          <a:lstStyle/>
          <a:p>
            <a:pPr algn="l">
              <a:lnSpc>
                <a:spcPts val="1439"/>
              </a:lnSpc>
              <a:spcAft>
                <a:spcPts val="0"/>
              </a:spcAft>
              <a:defRPr sz="1200" b="0">
                <a:solidFill>
                  <a:srgbClr val="381633"/>
                </a:solidFill>
                <a:latin typeface="Calibri"/>
              </a:defRPr>
            </a:pPr>
            <a:r>
              <a:t>Coach Mode (B2B)</a:t>
            </a:r>
          </a:p>
        </p:txBody>
      </p:sp>
      <p:sp>
        <p:nvSpPr>
          <p:cNvPr id="37" name="Rectangle 36"/>
          <p:cNvSpPr/>
          <p:nvPr/>
        </p:nvSpPr>
        <p:spPr>
          <a:xfrm>
            <a:off x="3291840" y="352044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29000" y="3566160"/>
            <a:ext cx="1920240" cy="411480"/>
          </a:xfrm>
          <a:prstGeom prst="rect">
            <a:avLst/>
          </a:prstGeom>
          <a:noFill/>
        </p:spPr>
        <p:txBody>
          <a:bodyPr wrap="square">
            <a:spAutoFit/>
          </a:bodyPr>
          <a:lstStyle/>
          <a:p>
            <a:pPr algn="ctr">
              <a:lnSpc>
                <a:spcPts val="1439"/>
              </a:lnSpc>
              <a:spcAft>
                <a:spcPts val="0"/>
              </a:spcAft>
              <a:defRPr sz="1200" b="1">
                <a:solidFill>
                  <a:srgbClr val="22AA22"/>
                </a:solidFill>
                <a:latin typeface="Calibri"/>
              </a:defRPr>
            </a:pPr>
            <a:r>
              <a:t>✓</a:t>
            </a:r>
          </a:p>
        </p:txBody>
      </p:sp>
      <p:sp>
        <p:nvSpPr>
          <p:cNvPr id="39" name="Rectangle 38"/>
          <p:cNvSpPr/>
          <p:nvPr/>
        </p:nvSpPr>
        <p:spPr>
          <a:xfrm>
            <a:off x="5486400" y="352044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23560" y="356616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41" name="Rectangle 40"/>
          <p:cNvSpPr/>
          <p:nvPr/>
        </p:nvSpPr>
        <p:spPr>
          <a:xfrm>
            <a:off x="7680960" y="352044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18120" y="356616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43" name="Rectangle 42"/>
          <p:cNvSpPr/>
          <p:nvPr/>
        </p:nvSpPr>
        <p:spPr>
          <a:xfrm>
            <a:off x="9875520" y="352044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12680" y="356616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45" name="Rectangle 44"/>
          <p:cNvSpPr/>
          <p:nvPr/>
        </p:nvSpPr>
        <p:spPr>
          <a:xfrm>
            <a:off x="1097280" y="393192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34440" y="3977640"/>
            <a:ext cx="1920240" cy="411480"/>
          </a:xfrm>
          <a:prstGeom prst="rect">
            <a:avLst/>
          </a:prstGeom>
          <a:noFill/>
        </p:spPr>
        <p:txBody>
          <a:bodyPr wrap="square">
            <a:spAutoFit/>
          </a:bodyPr>
          <a:lstStyle/>
          <a:p>
            <a:pPr algn="l">
              <a:lnSpc>
                <a:spcPts val="1439"/>
              </a:lnSpc>
              <a:spcAft>
                <a:spcPts val="0"/>
              </a:spcAft>
              <a:defRPr sz="1200" b="0">
                <a:solidFill>
                  <a:srgbClr val="381633"/>
                </a:solidFill>
                <a:latin typeface="Calibri"/>
              </a:defRPr>
            </a:pPr>
            <a:r>
              <a:t>TrainingPeaks + Garmin</a:t>
            </a:r>
          </a:p>
        </p:txBody>
      </p:sp>
      <p:sp>
        <p:nvSpPr>
          <p:cNvPr id="47" name="Rectangle 46"/>
          <p:cNvSpPr/>
          <p:nvPr/>
        </p:nvSpPr>
        <p:spPr>
          <a:xfrm>
            <a:off x="3291840" y="393192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29000" y="3977640"/>
            <a:ext cx="1920240" cy="411480"/>
          </a:xfrm>
          <a:prstGeom prst="rect">
            <a:avLst/>
          </a:prstGeom>
          <a:noFill/>
        </p:spPr>
        <p:txBody>
          <a:bodyPr wrap="square">
            <a:spAutoFit/>
          </a:bodyPr>
          <a:lstStyle/>
          <a:p>
            <a:pPr algn="ctr">
              <a:lnSpc>
                <a:spcPts val="1439"/>
              </a:lnSpc>
              <a:spcAft>
                <a:spcPts val="0"/>
              </a:spcAft>
              <a:defRPr sz="1200" b="1">
                <a:solidFill>
                  <a:srgbClr val="22AA22"/>
                </a:solidFill>
                <a:latin typeface="Calibri"/>
              </a:defRPr>
            </a:pPr>
            <a:r>
              <a:t>✓</a:t>
            </a:r>
          </a:p>
        </p:txBody>
      </p:sp>
      <p:sp>
        <p:nvSpPr>
          <p:cNvPr id="49" name="Rectangle 48"/>
          <p:cNvSpPr/>
          <p:nvPr/>
        </p:nvSpPr>
        <p:spPr>
          <a:xfrm>
            <a:off x="5486400" y="393192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23560" y="3977640"/>
            <a:ext cx="1920240" cy="411480"/>
          </a:xfrm>
          <a:prstGeom prst="rect">
            <a:avLst/>
          </a:prstGeom>
          <a:noFill/>
        </p:spPr>
        <p:txBody>
          <a:bodyPr wrap="square">
            <a:spAutoFit/>
          </a:bodyPr>
          <a:lstStyle/>
          <a:p>
            <a:pPr algn="ctr">
              <a:lnSpc>
                <a:spcPts val="1439"/>
              </a:lnSpc>
              <a:spcAft>
                <a:spcPts val="0"/>
              </a:spcAft>
              <a:defRPr sz="1200" b="0">
                <a:solidFill>
                  <a:srgbClr val="22AA22"/>
                </a:solidFill>
                <a:latin typeface="Calibri"/>
              </a:defRPr>
            </a:pPr>
            <a:r>
              <a:t>✓</a:t>
            </a:r>
          </a:p>
        </p:txBody>
      </p:sp>
      <p:sp>
        <p:nvSpPr>
          <p:cNvPr id="51" name="Rectangle 50"/>
          <p:cNvSpPr/>
          <p:nvPr/>
        </p:nvSpPr>
        <p:spPr>
          <a:xfrm>
            <a:off x="7680960" y="393192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18120" y="3977640"/>
            <a:ext cx="1920240" cy="411480"/>
          </a:xfrm>
          <a:prstGeom prst="rect">
            <a:avLst/>
          </a:prstGeom>
          <a:noFill/>
        </p:spPr>
        <p:txBody>
          <a:bodyPr wrap="square">
            <a:spAutoFit/>
          </a:bodyPr>
          <a:lstStyle/>
          <a:p>
            <a:pPr algn="ctr">
              <a:lnSpc>
                <a:spcPts val="1439"/>
              </a:lnSpc>
              <a:spcAft>
                <a:spcPts val="0"/>
              </a:spcAft>
              <a:defRPr sz="1200" b="0">
                <a:solidFill>
                  <a:srgbClr val="381633"/>
                </a:solidFill>
                <a:latin typeface="Calibri"/>
              </a:defRPr>
            </a:pPr>
            <a:r>
              <a:t>Partial</a:t>
            </a:r>
          </a:p>
        </p:txBody>
      </p:sp>
      <p:sp>
        <p:nvSpPr>
          <p:cNvPr id="53" name="Rectangle 52"/>
          <p:cNvSpPr/>
          <p:nvPr/>
        </p:nvSpPr>
        <p:spPr>
          <a:xfrm>
            <a:off x="9875520" y="393192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012680" y="397764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55" name="Rectangle 54"/>
          <p:cNvSpPr/>
          <p:nvPr/>
        </p:nvSpPr>
        <p:spPr>
          <a:xfrm>
            <a:off x="1097280" y="434340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34440" y="4389120"/>
            <a:ext cx="1920240" cy="411480"/>
          </a:xfrm>
          <a:prstGeom prst="rect">
            <a:avLst/>
          </a:prstGeom>
          <a:noFill/>
        </p:spPr>
        <p:txBody>
          <a:bodyPr wrap="square">
            <a:spAutoFit/>
          </a:bodyPr>
          <a:lstStyle/>
          <a:p>
            <a:pPr algn="l">
              <a:lnSpc>
                <a:spcPts val="1439"/>
              </a:lnSpc>
              <a:spcAft>
                <a:spcPts val="0"/>
              </a:spcAft>
              <a:defRPr sz="1200" b="0">
                <a:solidFill>
                  <a:srgbClr val="381633"/>
                </a:solidFill>
                <a:latin typeface="Calibri"/>
              </a:defRPr>
            </a:pPr>
            <a:r>
              <a:t>Offline-first</a:t>
            </a:r>
          </a:p>
        </p:txBody>
      </p:sp>
      <p:sp>
        <p:nvSpPr>
          <p:cNvPr id="57" name="Rectangle 56"/>
          <p:cNvSpPr/>
          <p:nvPr/>
        </p:nvSpPr>
        <p:spPr>
          <a:xfrm>
            <a:off x="3291840" y="434340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29000" y="4389120"/>
            <a:ext cx="1920240" cy="411480"/>
          </a:xfrm>
          <a:prstGeom prst="rect">
            <a:avLst/>
          </a:prstGeom>
          <a:noFill/>
        </p:spPr>
        <p:txBody>
          <a:bodyPr wrap="square">
            <a:spAutoFit/>
          </a:bodyPr>
          <a:lstStyle/>
          <a:p>
            <a:pPr algn="ctr">
              <a:lnSpc>
                <a:spcPts val="1439"/>
              </a:lnSpc>
              <a:spcAft>
                <a:spcPts val="0"/>
              </a:spcAft>
              <a:defRPr sz="1200" b="1">
                <a:solidFill>
                  <a:srgbClr val="22AA22"/>
                </a:solidFill>
                <a:latin typeface="Calibri"/>
              </a:defRPr>
            </a:pPr>
            <a:r>
              <a:t>✓</a:t>
            </a:r>
          </a:p>
        </p:txBody>
      </p:sp>
      <p:sp>
        <p:nvSpPr>
          <p:cNvPr id="59" name="Rectangle 58"/>
          <p:cNvSpPr/>
          <p:nvPr/>
        </p:nvSpPr>
        <p:spPr>
          <a:xfrm>
            <a:off x="5486400" y="434340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623560" y="438912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61" name="Rectangle 60"/>
          <p:cNvSpPr/>
          <p:nvPr/>
        </p:nvSpPr>
        <p:spPr>
          <a:xfrm>
            <a:off x="7680960" y="434340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18120" y="438912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63" name="Rectangle 62"/>
          <p:cNvSpPr/>
          <p:nvPr/>
        </p:nvSpPr>
        <p:spPr>
          <a:xfrm>
            <a:off x="9875520" y="434340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012680" y="4389120"/>
            <a:ext cx="1920240" cy="411480"/>
          </a:xfrm>
          <a:prstGeom prst="rect">
            <a:avLst/>
          </a:prstGeom>
          <a:noFill/>
        </p:spPr>
        <p:txBody>
          <a:bodyPr wrap="square">
            <a:spAutoFit/>
          </a:bodyPr>
          <a:lstStyle/>
          <a:p>
            <a:pPr algn="ctr">
              <a:lnSpc>
                <a:spcPts val="1439"/>
              </a:lnSpc>
              <a:spcAft>
                <a:spcPts val="0"/>
              </a:spcAft>
              <a:defRPr sz="1200" b="0">
                <a:solidFill>
                  <a:srgbClr val="22AA22"/>
                </a:solidFill>
                <a:latin typeface="Calibri"/>
              </a:defRPr>
            </a:pPr>
            <a:r>
              <a:t>✓</a:t>
            </a:r>
          </a:p>
        </p:txBody>
      </p:sp>
      <p:sp>
        <p:nvSpPr>
          <p:cNvPr id="65" name="Rectangle 64"/>
          <p:cNvSpPr/>
          <p:nvPr/>
        </p:nvSpPr>
        <p:spPr>
          <a:xfrm>
            <a:off x="1097280" y="475488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234440" y="4800600"/>
            <a:ext cx="1920240" cy="411480"/>
          </a:xfrm>
          <a:prstGeom prst="rect">
            <a:avLst/>
          </a:prstGeom>
          <a:noFill/>
        </p:spPr>
        <p:txBody>
          <a:bodyPr wrap="square">
            <a:spAutoFit/>
          </a:bodyPr>
          <a:lstStyle/>
          <a:p>
            <a:pPr algn="l">
              <a:lnSpc>
                <a:spcPts val="1439"/>
              </a:lnSpc>
              <a:spcAft>
                <a:spcPts val="0"/>
              </a:spcAft>
              <a:defRPr sz="1200" b="0">
                <a:solidFill>
                  <a:srgbClr val="381633"/>
                </a:solidFill>
                <a:latin typeface="Calibri"/>
              </a:defRPr>
            </a:pPr>
            <a:r>
              <a:t>ACSM/ISSN evidence base</a:t>
            </a:r>
          </a:p>
        </p:txBody>
      </p:sp>
      <p:sp>
        <p:nvSpPr>
          <p:cNvPr id="67" name="Rectangle 66"/>
          <p:cNvSpPr/>
          <p:nvPr/>
        </p:nvSpPr>
        <p:spPr>
          <a:xfrm>
            <a:off x="3291840" y="475488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9000" y="4800600"/>
            <a:ext cx="1920240" cy="411480"/>
          </a:xfrm>
          <a:prstGeom prst="rect">
            <a:avLst/>
          </a:prstGeom>
          <a:noFill/>
        </p:spPr>
        <p:txBody>
          <a:bodyPr wrap="square">
            <a:spAutoFit/>
          </a:bodyPr>
          <a:lstStyle/>
          <a:p>
            <a:pPr algn="ctr">
              <a:lnSpc>
                <a:spcPts val="1439"/>
              </a:lnSpc>
              <a:spcAft>
                <a:spcPts val="0"/>
              </a:spcAft>
              <a:defRPr sz="1200" b="1">
                <a:solidFill>
                  <a:srgbClr val="22AA22"/>
                </a:solidFill>
                <a:latin typeface="Calibri"/>
              </a:defRPr>
            </a:pPr>
            <a:r>
              <a:t>✓</a:t>
            </a:r>
          </a:p>
        </p:txBody>
      </p:sp>
      <p:sp>
        <p:nvSpPr>
          <p:cNvPr id="69" name="Rectangle 68"/>
          <p:cNvSpPr/>
          <p:nvPr/>
        </p:nvSpPr>
        <p:spPr>
          <a:xfrm>
            <a:off x="5486400" y="475488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623560" y="4800600"/>
            <a:ext cx="1920240" cy="411480"/>
          </a:xfrm>
          <a:prstGeom prst="rect">
            <a:avLst/>
          </a:prstGeom>
          <a:noFill/>
        </p:spPr>
        <p:txBody>
          <a:bodyPr wrap="square">
            <a:spAutoFit/>
          </a:bodyPr>
          <a:lstStyle/>
          <a:p>
            <a:pPr algn="ctr">
              <a:lnSpc>
                <a:spcPts val="1439"/>
              </a:lnSpc>
              <a:spcAft>
                <a:spcPts val="0"/>
              </a:spcAft>
              <a:defRPr sz="1200" b="0">
                <a:solidFill>
                  <a:srgbClr val="381633"/>
                </a:solidFill>
                <a:latin typeface="Calibri"/>
              </a:defRPr>
            </a:pPr>
            <a:r>
              <a:t>Partial</a:t>
            </a:r>
          </a:p>
        </p:txBody>
      </p:sp>
      <p:sp>
        <p:nvSpPr>
          <p:cNvPr id="71" name="Rectangle 70"/>
          <p:cNvSpPr/>
          <p:nvPr/>
        </p:nvSpPr>
        <p:spPr>
          <a:xfrm>
            <a:off x="7680960" y="475488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818120" y="4800600"/>
            <a:ext cx="1920240" cy="411480"/>
          </a:xfrm>
          <a:prstGeom prst="rect">
            <a:avLst/>
          </a:prstGeom>
          <a:noFill/>
        </p:spPr>
        <p:txBody>
          <a:bodyPr wrap="square">
            <a:spAutoFit/>
          </a:bodyPr>
          <a:lstStyle/>
          <a:p>
            <a:pPr algn="ctr">
              <a:lnSpc>
                <a:spcPts val="1439"/>
              </a:lnSpc>
              <a:spcAft>
                <a:spcPts val="0"/>
              </a:spcAft>
              <a:defRPr sz="1200" b="0">
                <a:solidFill>
                  <a:srgbClr val="381633"/>
                </a:solidFill>
                <a:latin typeface="Calibri"/>
              </a:defRPr>
            </a:pPr>
            <a:r>
              <a:t>Partial</a:t>
            </a:r>
          </a:p>
        </p:txBody>
      </p:sp>
      <p:sp>
        <p:nvSpPr>
          <p:cNvPr id="73" name="Rectangle 72"/>
          <p:cNvSpPr/>
          <p:nvPr/>
        </p:nvSpPr>
        <p:spPr>
          <a:xfrm>
            <a:off x="9875520" y="475488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012680" y="480060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75" name="Rectangle 74"/>
          <p:cNvSpPr/>
          <p:nvPr/>
        </p:nvSpPr>
        <p:spPr>
          <a:xfrm>
            <a:off x="1097280" y="516636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234440" y="5212080"/>
            <a:ext cx="1920240" cy="411480"/>
          </a:xfrm>
          <a:prstGeom prst="rect">
            <a:avLst/>
          </a:prstGeom>
          <a:noFill/>
        </p:spPr>
        <p:txBody>
          <a:bodyPr wrap="square">
            <a:spAutoFit/>
          </a:bodyPr>
          <a:lstStyle/>
          <a:p>
            <a:pPr algn="l">
              <a:lnSpc>
                <a:spcPts val="1439"/>
              </a:lnSpc>
              <a:spcAft>
                <a:spcPts val="0"/>
              </a:spcAft>
              <a:defRPr sz="1200" b="0">
                <a:solidFill>
                  <a:srgbClr val="381633"/>
                </a:solidFill>
                <a:latin typeface="Calibri"/>
              </a:defRPr>
            </a:pPr>
            <a:r>
              <a:t>Weather-adjusted hydration</a:t>
            </a:r>
          </a:p>
        </p:txBody>
      </p:sp>
      <p:sp>
        <p:nvSpPr>
          <p:cNvPr id="77" name="Rectangle 76"/>
          <p:cNvSpPr/>
          <p:nvPr/>
        </p:nvSpPr>
        <p:spPr>
          <a:xfrm>
            <a:off x="3291840" y="516636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429000" y="5212080"/>
            <a:ext cx="1920240" cy="411480"/>
          </a:xfrm>
          <a:prstGeom prst="rect">
            <a:avLst/>
          </a:prstGeom>
          <a:noFill/>
        </p:spPr>
        <p:txBody>
          <a:bodyPr wrap="square">
            <a:spAutoFit/>
          </a:bodyPr>
          <a:lstStyle/>
          <a:p>
            <a:pPr algn="ctr">
              <a:lnSpc>
                <a:spcPts val="1439"/>
              </a:lnSpc>
              <a:spcAft>
                <a:spcPts val="0"/>
              </a:spcAft>
              <a:defRPr sz="1200" b="1">
                <a:solidFill>
                  <a:srgbClr val="22AA22"/>
                </a:solidFill>
                <a:latin typeface="Calibri"/>
              </a:defRPr>
            </a:pPr>
            <a:r>
              <a:t>✓</a:t>
            </a:r>
          </a:p>
        </p:txBody>
      </p:sp>
      <p:sp>
        <p:nvSpPr>
          <p:cNvPr id="79" name="Rectangle 78"/>
          <p:cNvSpPr/>
          <p:nvPr/>
        </p:nvSpPr>
        <p:spPr>
          <a:xfrm>
            <a:off x="5486400" y="516636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23560" y="521208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81" name="Rectangle 80"/>
          <p:cNvSpPr/>
          <p:nvPr/>
        </p:nvSpPr>
        <p:spPr>
          <a:xfrm>
            <a:off x="7680960" y="516636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818120" y="521208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83" name="Rectangle 82"/>
          <p:cNvSpPr/>
          <p:nvPr/>
        </p:nvSpPr>
        <p:spPr>
          <a:xfrm>
            <a:off x="9875520" y="5166360"/>
            <a:ext cx="21488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012680" y="5212080"/>
            <a:ext cx="1920240" cy="411480"/>
          </a:xfrm>
          <a:prstGeom prst="rect">
            <a:avLst/>
          </a:prstGeom>
          <a:noFill/>
        </p:spPr>
        <p:txBody>
          <a:bodyPr wrap="square">
            <a:spAutoFit/>
          </a:bodyPr>
          <a:lstStyle/>
          <a:p>
            <a:pPr algn="ctr">
              <a:lnSpc>
                <a:spcPts val="1439"/>
              </a:lnSpc>
              <a:spcAft>
                <a:spcPts val="0"/>
              </a:spcAft>
              <a:defRPr sz="1200" b="0">
                <a:solidFill>
                  <a:srgbClr val="CC3333"/>
                </a:solidFill>
                <a:latin typeface="Calibri"/>
              </a:defRPr>
            </a:pPr>
            <a:r>
              <a:t>✗</a:t>
            </a:r>
          </a:p>
        </p:txBody>
      </p:sp>
      <p:sp>
        <p:nvSpPr>
          <p:cNvPr id="85" name="Rectangle 84"/>
          <p:cNvSpPr/>
          <p:nvPr/>
        </p:nvSpPr>
        <p:spPr>
          <a:xfrm>
            <a:off x="1097280" y="557784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234440" y="5623560"/>
            <a:ext cx="1920240" cy="411480"/>
          </a:xfrm>
          <a:prstGeom prst="rect">
            <a:avLst/>
          </a:prstGeom>
          <a:noFill/>
        </p:spPr>
        <p:txBody>
          <a:bodyPr wrap="square">
            <a:spAutoFit/>
          </a:bodyPr>
          <a:lstStyle/>
          <a:p>
            <a:pPr algn="l">
              <a:lnSpc>
                <a:spcPts val="1439"/>
              </a:lnSpc>
              <a:spcAft>
                <a:spcPts val="0"/>
              </a:spcAft>
              <a:defRPr sz="1200" b="0">
                <a:solidFill>
                  <a:srgbClr val="381633"/>
                </a:solidFill>
                <a:latin typeface="Calibri"/>
              </a:defRPr>
            </a:pPr>
            <a:r>
              <a:t>Price (monthly)</a:t>
            </a:r>
          </a:p>
        </p:txBody>
      </p:sp>
      <p:sp>
        <p:nvSpPr>
          <p:cNvPr id="87" name="Rectangle 86"/>
          <p:cNvSpPr/>
          <p:nvPr/>
        </p:nvSpPr>
        <p:spPr>
          <a:xfrm>
            <a:off x="3291840" y="557784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429000" y="5623560"/>
            <a:ext cx="1920240" cy="411480"/>
          </a:xfrm>
          <a:prstGeom prst="rect">
            <a:avLst/>
          </a:prstGeom>
          <a:noFill/>
        </p:spPr>
        <p:txBody>
          <a:bodyPr wrap="square">
            <a:spAutoFit/>
          </a:bodyPr>
          <a:lstStyle/>
          <a:p>
            <a:pPr algn="ctr">
              <a:lnSpc>
                <a:spcPts val="1439"/>
              </a:lnSpc>
              <a:spcAft>
                <a:spcPts val="0"/>
              </a:spcAft>
              <a:defRPr sz="1200" b="1">
                <a:solidFill>
                  <a:srgbClr val="381633"/>
                </a:solidFill>
                <a:latin typeface="Calibri"/>
              </a:defRPr>
            </a:pPr>
            <a:r>
              <a:t>$9.99</a:t>
            </a:r>
          </a:p>
        </p:txBody>
      </p:sp>
      <p:sp>
        <p:nvSpPr>
          <p:cNvPr id="89" name="Rectangle 88"/>
          <p:cNvSpPr/>
          <p:nvPr/>
        </p:nvSpPr>
        <p:spPr>
          <a:xfrm>
            <a:off x="5486400" y="557784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623560" y="5623560"/>
            <a:ext cx="1920240" cy="411480"/>
          </a:xfrm>
          <a:prstGeom prst="rect">
            <a:avLst/>
          </a:prstGeom>
          <a:noFill/>
        </p:spPr>
        <p:txBody>
          <a:bodyPr wrap="square">
            <a:spAutoFit/>
          </a:bodyPr>
          <a:lstStyle/>
          <a:p>
            <a:pPr algn="ctr">
              <a:lnSpc>
                <a:spcPts val="1439"/>
              </a:lnSpc>
              <a:spcAft>
                <a:spcPts val="0"/>
              </a:spcAft>
              <a:defRPr sz="1200" b="0">
                <a:solidFill>
                  <a:srgbClr val="381633"/>
                </a:solidFill>
                <a:latin typeface="Calibri"/>
              </a:defRPr>
            </a:pPr>
            <a:r>
              <a:t>~$15</a:t>
            </a:r>
          </a:p>
        </p:txBody>
      </p:sp>
      <p:sp>
        <p:nvSpPr>
          <p:cNvPr id="91" name="Rectangle 90"/>
          <p:cNvSpPr/>
          <p:nvPr/>
        </p:nvSpPr>
        <p:spPr>
          <a:xfrm>
            <a:off x="7680960" y="557784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818120" y="5623560"/>
            <a:ext cx="1920240" cy="411480"/>
          </a:xfrm>
          <a:prstGeom prst="rect">
            <a:avLst/>
          </a:prstGeom>
          <a:noFill/>
        </p:spPr>
        <p:txBody>
          <a:bodyPr wrap="square">
            <a:spAutoFit/>
          </a:bodyPr>
          <a:lstStyle/>
          <a:p>
            <a:pPr algn="ctr">
              <a:lnSpc>
                <a:spcPts val="1439"/>
              </a:lnSpc>
              <a:spcAft>
                <a:spcPts val="0"/>
              </a:spcAft>
              <a:defRPr sz="1200" b="0">
                <a:solidFill>
                  <a:srgbClr val="381633"/>
                </a:solidFill>
                <a:latin typeface="Calibri"/>
              </a:defRPr>
            </a:pPr>
            <a:r>
              <a:t>~$12</a:t>
            </a:r>
          </a:p>
        </p:txBody>
      </p:sp>
      <p:sp>
        <p:nvSpPr>
          <p:cNvPr id="93" name="Rectangle 92"/>
          <p:cNvSpPr/>
          <p:nvPr/>
        </p:nvSpPr>
        <p:spPr>
          <a:xfrm>
            <a:off x="9875520" y="5577840"/>
            <a:ext cx="2148840" cy="411480"/>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12680" y="5623560"/>
            <a:ext cx="1920240" cy="411480"/>
          </a:xfrm>
          <a:prstGeom prst="rect">
            <a:avLst/>
          </a:prstGeom>
          <a:noFill/>
        </p:spPr>
        <p:txBody>
          <a:bodyPr wrap="square">
            <a:spAutoFit/>
          </a:bodyPr>
          <a:lstStyle/>
          <a:p>
            <a:pPr algn="ctr">
              <a:lnSpc>
                <a:spcPts val="1439"/>
              </a:lnSpc>
              <a:spcAft>
                <a:spcPts val="0"/>
              </a:spcAft>
              <a:defRPr sz="1200" b="0">
                <a:solidFill>
                  <a:srgbClr val="381633"/>
                </a:solidFill>
                <a:latin typeface="Calibri"/>
              </a:defRPr>
            </a:pPr>
            <a:r>
              <a:t>Free/$10</a:t>
            </a:r>
          </a:p>
        </p:txBody>
      </p:sp>
      <p:sp>
        <p:nvSpPr>
          <p:cNvPr id="95" name="TextBox 94"/>
          <p:cNvSpPr txBox="1"/>
          <p:nvPr/>
        </p:nvSpPr>
        <p:spPr>
          <a:xfrm>
            <a:off x="11338560" y="6400800"/>
            <a:ext cx="731520" cy="365760"/>
          </a:xfrm>
          <a:prstGeom prst="rect">
            <a:avLst/>
          </a:prstGeom>
          <a:noFill/>
        </p:spPr>
        <p:txBody>
          <a:bodyPr wrap="square">
            <a:spAutoFit/>
          </a:bodyPr>
          <a:lstStyle/>
          <a:p>
            <a:pPr algn="r">
              <a:lnSpc>
                <a:spcPts val="1200"/>
              </a:lnSpc>
              <a:spcAft>
                <a:spcPts val="0"/>
              </a:spcAft>
              <a:defRPr sz="1000" b="0">
                <a:solidFill>
                  <a:srgbClr val="CCCCCC"/>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3D1F4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48640"/>
            <a:ext cx="2743200" cy="45720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TEAM</a:t>
            </a:r>
          </a:p>
        </p:txBody>
      </p:sp>
      <p:sp>
        <p:nvSpPr>
          <p:cNvPr id="4" name="TextBox 3"/>
          <p:cNvSpPr txBox="1"/>
          <p:nvPr/>
        </p:nvSpPr>
        <p:spPr>
          <a:xfrm>
            <a:off x="1097280" y="1005840"/>
            <a:ext cx="9144000" cy="914400"/>
          </a:xfrm>
          <a:prstGeom prst="rect">
            <a:avLst/>
          </a:prstGeom>
          <a:noFill/>
        </p:spPr>
        <p:txBody>
          <a:bodyPr wrap="square">
            <a:spAutoFit/>
          </a:bodyPr>
          <a:lstStyle/>
          <a:p>
            <a:pPr algn="l">
              <a:lnSpc>
                <a:spcPts val="4320"/>
              </a:lnSpc>
              <a:spcAft>
                <a:spcPts val="0"/>
              </a:spcAft>
              <a:defRPr sz="3600" b="1">
                <a:solidFill>
                  <a:srgbClr val="FFFFFF"/>
                </a:solidFill>
                <a:latin typeface="Calibri"/>
              </a:defRPr>
            </a:pPr>
            <a:r>
              <a:t>Data science + engineering + domain expertise.</a:t>
            </a:r>
          </a:p>
        </p:txBody>
      </p:sp>
      <p:sp>
        <p:nvSpPr>
          <p:cNvPr id="5" name="Rectangle 4"/>
          <p:cNvSpPr/>
          <p:nvPr/>
        </p:nvSpPr>
        <p:spPr>
          <a:xfrm>
            <a:off x="1097280" y="2103120"/>
            <a:ext cx="4572000" cy="2743200"/>
          </a:xfrm>
          <a:prstGeom prst="rect">
            <a:avLst/>
          </a:prstGeom>
          <a:solidFill>
            <a:srgbClr val="4A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0" y="2377440"/>
            <a:ext cx="1097280" cy="1097280"/>
          </a:xfrm>
          <a:prstGeom prst="rect">
            <a:avLst/>
          </a:prstGeom>
          <a:solidFill>
            <a:srgbClr val="5A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17320" y="2697480"/>
            <a:ext cx="1005840" cy="457200"/>
          </a:xfrm>
          <a:prstGeom prst="rect">
            <a:avLst/>
          </a:prstGeom>
          <a:noFill/>
        </p:spPr>
        <p:txBody>
          <a:bodyPr wrap="square">
            <a:spAutoFit/>
          </a:bodyPr>
          <a:lstStyle/>
          <a:p>
            <a:pPr algn="ctr">
              <a:lnSpc>
                <a:spcPts val="1080"/>
              </a:lnSpc>
              <a:spcAft>
                <a:spcPts val="0"/>
              </a:spcAft>
              <a:defRPr sz="900" b="0">
                <a:solidFill>
                  <a:srgbClr val="999999"/>
                </a:solidFill>
                <a:latin typeface="Calibri"/>
              </a:defRPr>
            </a:pPr>
            <a:r>
              <a:t>[Photo placeholder]</a:t>
            </a:r>
          </a:p>
        </p:txBody>
      </p:sp>
      <p:sp>
        <p:nvSpPr>
          <p:cNvPr id="8" name="TextBox 7"/>
          <p:cNvSpPr txBox="1"/>
          <p:nvPr/>
        </p:nvSpPr>
        <p:spPr>
          <a:xfrm>
            <a:off x="2651760" y="2377440"/>
            <a:ext cx="2743200" cy="365760"/>
          </a:xfrm>
          <a:prstGeom prst="rect">
            <a:avLst/>
          </a:prstGeom>
          <a:noFill/>
        </p:spPr>
        <p:txBody>
          <a:bodyPr wrap="square">
            <a:spAutoFit/>
          </a:bodyPr>
          <a:lstStyle/>
          <a:p>
            <a:pPr algn="l">
              <a:lnSpc>
                <a:spcPts val="2640"/>
              </a:lnSpc>
              <a:spcAft>
                <a:spcPts val="0"/>
              </a:spcAft>
              <a:defRPr sz="2200" b="1">
                <a:solidFill>
                  <a:srgbClr val="FFFFFF"/>
                </a:solidFill>
                <a:latin typeface="Calibri"/>
              </a:defRPr>
            </a:pPr>
            <a:r>
              <a:t>Xuan Huang</a:t>
            </a:r>
          </a:p>
        </p:txBody>
      </p:sp>
      <p:sp>
        <p:nvSpPr>
          <p:cNvPr id="9" name="TextBox 8"/>
          <p:cNvSpPr txBox="1"/>
          <p:nvPr/>
        </p:nvSpPr>
        <p:spPr>
          <a:xfrm>
            <a:off x="2651760" y="2743200"/>
            <a:ext cx="2743200" cy="27432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CEO &amp; Co-founder</a:t>
            </a:r>
          </a:p>
        </p:txBody>
      </p:sp>
      <p:sp>
        <p:nvSpPr>
          <p:cNvPr id="10" name="TextBox 9"/>
          <p:cNvSpPr txBox="1"/>
          <p:nvPr/>
        </p:nvSpPr>
        <p:spPr>
          <a:xfrm>
            <a:off x="1371600" y="3657600"/>
            <a:ext cx="4023360" cy="1097280"/>
          </a:xfrm>
          <a:prstGeom prst="rect">
            <a:avLst/>
          </a:prstGeom>
          <a:noFill/>
        </p:spPr>
        <p:txBody>
          <a:bodyPr wrap="square">
            <a:spAutoFit/>
          </a:bodyPr>
          <a:lstStyle/>
          <a:p>
            <a:pPr algn="l">
              <a:lnSpc>
                <a:spcPts val="1560"/>
              </a:lnSpc>
              <a:spcAft>
                <a:spcPts val="0"/>
              </a:spcAft>
              <a:defRPr sz="1200" b="0">
                <a:solidFill>
                  <a:srgbClr val="F5F3ED"/>
                </a:solidFill>
                <a:latin typeface="Calibri"/>
              </a:defRPr>
            </a:pPr>
            <a:r>
              <a:t>Statistician and data scientist. Built Mealvana's personalized nutrition algorithms. Deep expertise in ML, recommendation systems, and statistical modeling. Prior startup experience. Birmingham ecosystem connections via Innovation Depot, Forge, and Alabama Launchpad.</a:t>
            </a:r>
          </a:p>
        </p:txBody>
      </p:sp>
      <p:sp>
        <p:nvSpPr>
          <p:cNvPr id="11" name="Rectangle 10"/>
          <p:cNvSpPr/>
          <p:nvPr/>
        </p:nvSpPr>
        <p:spPr>
          <a:xfrm>
            <a:off x="6126480" y="2103120"/>
            <a:ext cx="4572000" cy="2743200"/>
          </a:xfrm>
          <a:prstGeom prst="rect">
            <a:avLst/>
          </a:prstGeom>
          <a:solidFill>
            <a:srgbClr val="4A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2377440"/>
            <a:ext cx="1097280" cy="1097280"/>
          </a:xfrm>
          <a:prstGeom prst="rect">
            <a:avLst/>
          </a:prstGeom>
          <a:solidFill>
            <a:srgbClr val="5A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697480"/>
            <a:ext cx="1005840" cy="457200"/>
          </a:xfrm>
          <a:prstGeom prst="rect">
            <a:avLst/>
          </a:prstGeom>
          <a:noFill/>
        </p:spPr>
        <p:txBody>
          <a:bodyPr wrap="square">
            <a:spAutoFit/>
          </a:bodyPr>
          <a:lstStyle/>
          <a:p>
            <a:pPr algn="ctr">
              <a:lnSpc>
                <a:spcPts val="1080"/>
              </a:lnSpc>
              <a:spcAft>
                <a:spcPts val="0"/>
              </a:spcAft>
              <a:defRPr sz="900" b="0">
                <a:solidFill>
                  <a:srgbClr val="999999"/>
                </a:solidFill>
                <a:latin typeface="Calibri"/>
              </a:defRPr>
            </a:pPr>
            <a:r>
              <a:t>[Photo placeholder]</a:t>
            </a:r>
          </a:p>
        </p:txBody>
      </p:sp>
      <p:sp>
        <p:nvSpPr>
          <p:cNvPr id="14" name="TextBox 13"/>
          <p:cNvSpPr txBox="1"/>
          <p:nvPr/>
        </p:nvSpPr>
        <p:spPr>
          <a:xfrm>
            <a:off x="7680960" y="2377440"/>
            <a:ext cx="2743200" cy="365760"/>
          </a:xfrm>
          <a:prstGeom prst="rect">
            <a:avLst/>
          </a:prstGeom>
          <a:noFill/>
        </p:spPr>
        <p:txBody>
          <a:bodyPr wrap="square">
            <a:spAutoFit/>
          </a:bodyPr>
          <a:lstStyle/>
          <a:p>
            <a:pPr algn="l">
              <a:lnSpc>
                <a:spcPts val="2640"/>
              </a:lnSpc>
              <a:spcAft>
                <a:spcPts val="0"/>
              </a:spcAft>
              <a:defRPr sz="2200" b="1">
                <a:solidFill>
                  <a:srgbClr val="FFFFFF"/>
                </a:solidFill>
                <a:latin typeface="Calibri"/>
              </a:defRPr>
            </a:pPr>
            <a:r>
              <a:t>Lee Martin</a:t>
            </a:r>
          </a:p>
        </p:txBody>
      </p:sp>
      <p:sp>
        <p:nvSpPr>
          <p:cNvPr id="15" name="TextBox 14"/>
          <p:cNvSpPr txBox="1"/>
          <p:nvPr/>
        </p:nvSpPr>
        <p:spPr>
          <a:xfrm>
            <a:off x="7680960" y="2743200"/>
            <a:ext cx="2743200" cy="27432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CTO &amp; Co-founder</a:t>
            </a:r>
          </a:p>
        </p:txBody>
      </p:sp>
      <p:sp>
        <p:nvSpPr>
          <p:cNvPr id="16" name="TextBox 15"/>
          <p:cNvSpPr txBox="1"/>
          <p:nvPr/>
        </p:nvSpPr>
        <p:spPr>
          <a:xfrm>
            <a:off x="6400800" y="3657600"/>
            <a:ext cx="4023360" cy="1097280"/>
          </a:xfrm>
          <a:prstGeom prst="rect">
            <a:avLst/>
          </a:prstGeom>
          <a:noFill/>
        </p:spPr>
        <p:txBody>
          <a:bodyPr wrap="square">
            <a:spAutoFit/>
          </a:bodyPr>
          <a:lstStyle/>
          <a:p>
            <a:pPr algn="l">
              <a:lnSpc>
                <a:spcPts val="1560"/>
              </a:lnSpc>
              <a:spcAft>
                <a:spcPts val="0"/>
              </a:spcAft>
              <a:defRPr sz="1200" b="0">
                <a:solidFill>
                  <a:srgbClr val="F5F3ED"/>
                </a:solidFill>
                <a:latin typeface="Calibri"/>
              </a:defRPr>
            </a:pPr>
            <a:r>
              <a:t>Full-stack engineer and competitive triathlete. Architected the dual AI + algorithmic system, offline-first architecture, and Coach Mode web portal. Deep Flutter, Supabase, and AI/ML integration expertise. Domain expert as an endurance athlete.</a:t>
            </a:r>
          </a:p>
        </p:txBody>
      </p:sp>
      <p:sp>
        <p:nvSpPr>
          <p:cNvPr id="17" name="TextBox 16"/>
          <p:cNvSpPr txBox="1"/>
          <p:nvPr/>
        </p:nvSpPr>
        <p:spPr>
          <a:xfrm>
            <a:off x="1097280" y="5120640"/>
            <a:ext cx="9144000" cy="365760"/>
          </a:xfrm>
          <a:prstGeom prst="rect">
            <a:avLst/>
          </a:prstGeom>
          <a:noFill/>
        </p:spPr>
        <p:txBody>
          <a:bodyPr wrap="square">
            <a:spAutoFit/>
          </a:bodyPr>
          <a:lstStyle/>
          <a:p>
            <a:pPr algn="l">
              <a:lnSpc>
                <a:spcPts val="1920"/>
              </a:lnSpc>
              <a:spcAft>
                <a:spcPts val="0"/>
              </a:spcAft>
              <a:defRPr sz="1600" b="1">
                <a:solidFill>
                  <a:srgbClr val="5DE4D3"/>
                </a:solidFill>
                <a:latin typeface="Calibri"/>
              </a:defRPr>
            </a:pPr>
            <a:r>
              <a:t>Extended Team</a:t>
            </a:r>
          </a:p>
        </p:txBody>
      </p:sp>
      <p:sp>
        <p:nvSpPr>
          <p:cNvPr id="18" name="TextBox 17"/>
          <p:cNvSpPr txBox="1"/>
          <p:nvPr/>
        </p:nvSpPr>
        <p:spPr>
          <a:xfrm>
            <a:off x="1097280" y="5577840"/>
            <a:ext cx="9144000" cy="365760"/>
          </a:xfrm>
          <a:prstGeom prst="rect">
            <a:avLst/>
          </a:prstGeom>
          <a:noFill/>
        </p:spPr>
        <p:txBody>
          <a:bodyPr wrap="square">
            <a:spAutoFit/>
          </a:bodyPr>
          <a:lstStyle/>
          <a:p>
            <a:pPr algn="l">
              <a:lnSpc>
                <a:spcPts val="1560"/>
              </a:lnSpc>
              <a:spcAft>
                <a:spcPts val="0"/>
              </a:spcAft>
              <a:defRPr sz="1300" b="0">
                <a:solidFill>
                  <a:srgbClr val="F5F3ED"/>
                </a:solidFill>
                <a:latin typeface="Calibri"/>
              </a:defRPr>
            </a:pPr>
            <a:r>
              <a:t>Dr. Rachel Mitchell (Sports Dietitian, clinical validation)  |  Rui Tian (User Researcher)  |  Haibin Zhuang (Engineering Consultant)</a:t>
            </a:r>
          </a:p>
        </p:txBody>
      </p:sp>
      <p:sp>
        <p:nvSpPr>
          <p:cNvPr id="19" name="TextBox 18"/>
          <p:cNvSpPr txBox="1"/>
          <p:nvPr/>
        </p:nvSpPr>
        <p:spPr>
          <a:xfrm>
            <a:off x="1097280" y="6035040"/>
            <a:ext cx="9144000" cy="36576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Next Hire:  Head of Growth / Sales &amp; Partnerships — our most critical gap</a:t>
            </a:r>
          </a:p>
        </p:txBody>
      </p:sp>
      <p:sp>
        <p:nvSpPr>
          <p:cNvPr id="20" name="TextBox 19"/>
          <p:cNvSpPr txBox="1"/>
          <p:nvPr/>
        </p:nvSpPr>
        <p:spPr>
          <a:xfrm>
            <a:off x="11338560" y="6400800"/>
            <a:ext cx="731520" cy="365760"/>
          </a:xfrm>
          <a:prstGeom prst="rect">
            <a:avLst/>
          </a:prstGeom>
          <a:noFill/>
        </p:spPr>
        <p:txBody>
          <a:bodyPr wrap="square">
            <a:spAutoFit/>
          </a:bodyPr>
          <a:lstStyle/>
          <a:p>
            <a:pPr algn="r">
              <a:lnSpc>
                <a:spcPts val="1200"/>
              </a:lnSpc>
              <a:spcAft>
                <a:spcPts val="0"/>
              </a:spcAft>
              <a:defRPr sz="1000" b="0">
                <a:solidFill>
                  <a:srgbClr val="CCCCCC"/>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48640"/>
            <a:ext cx="2743200" cy="45720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THE ASK</a:t>
            </a:r>
          </a:p>
        </p:txBody>
      </p:sp>
      <p:sp>
        <p:nvSpPr>
          <p:cNvPr id="4" name="TextBox 3"/>
          <p:cNvSpPr txBox="1"/>
          <p:nvPr/>
        </p:nvSpPr>
        <p:spPr>
          <a:xfrm>
            <a:off x="1097280" y="1005840"/>
            <a:ext cx="9144000" cy="914400"/>
          </a:xfrm>
          <a:prstGeom prst="rect">
            <a:avLst/>
          </a:prstGeom>
          <a:noFill/>
        </p:spPr>
        <p:txBody>
          <a:bodyPr wrap="square">
            <a:spAutoFit/>
          </a:bodyPr>
          <a:lstStyle/>
          <a:p>
            <a:pPr algn="l">
              <a:lnSpc>
                <a:spcPts val="5040"/>
              </a:lnSpc>
              <a:spcAft>
                <a:spcPts val="0"/>
              </a:spcAft>
              <a:defRPr sz="4200" b="1">
                <a:solidFill>
                  <a:srgbClr val="3D1F47"/>
                </a:solidFill>
                <a:latin typeface="Calibri"/>
              </a:defRPr>
            </a:pPr>
            <a:r>
              <a:t>Pre-seed: $250K–$500K</a:t>
            </a:r>
          </a:p>
        </p:txBody>
      </p:sp>
      <p:sp>
        <p:nvSpPr>
          <p:cNvPr id="5" name="Rectangle 4"/>
          <p:cNvSpPr/>
          <p:nvPr/>
        </p:nvSpPr>
        <p:spPr>
          <a:xfrm>
            <a:off x="1097280" y="2103120"/>
            <a:ext cx="914400" cy="3810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377440"/>
            <a:ext cx="9144000" cy="457200"/>
          </a:xfrm>
          <a:prstGeom prst="rect">
            <a:avLst/>
          </a:prstGeom>
          <a:noFill/>
        </p:spPr>
        <p:txBody>
          <a:bodyPr wrap="square">
            <a:spAutoFit/>
          </a:bodyPr>
          <a:lstStyle/>
          <a:p>
            <a:pPr algn="l">
              <a:lnSpc>
                <a:spcPts val="2160"/>
              </a:lnSpc>
              <a:spcAft>
                <a:spcPts val="0"/>
              </a:spcAft>
              <a:defRPr sz="1800" b="0">
                <a:solidFill>
                  <a:srgbClr val="381633"/>
                </a:solidFill>
                <a:latin typeface="Calibri"/>
              </a:defRPr>
            </a:pPr>
            <a:r>
              <a:t>First outside capital beyond $25K Alabama Launchpad prize.</a:t>
            </a:r>
          </a:p>
        </p:txBody>
      </p:sp>
      <p:sp>
        <p:nvSpPr>
          <p:cNvPr id="7" name="TextBox 6"/>
          <p:cNvSpPr txBox="1"/>
          <p:nvPr/>
        </p:nvSpPr>
        <p:spPr>
          <a:xfrm>
            <a:off x="1097280" y="3200400"/>
            <a:ext cx="4572000" cy="457200"/>
          </a:xfrm>
          <a:prstGeom prst="rect">
            <a:avLst/>
          </a:prstGeom>
          <a:noFill/>
        </p:spPr>
        <p:txBody>
          <a:bodyPr wrap="square">
            <a:spAutoFit/>
          </a:bodyPr>
          <a:lstStyle/>
          <a:p>
            <a:pPr algn="l">
              <a:lnSpc>
                <a:spcPts val="2400"/>
              </a:lnSpc>
              <a:spcAft>
                <a:spcPts val="0"/>
              </a:spcAft>
              <a:defRPr sz="2000" b="1">
                <a:solidFill>
                  <a:srgbClr val="3D1F47"/>
                </a:solidFill>
                <a:latin typeface="Calibri"/>
              </a:defRPr>
            </a:pPr>
            <a:r>
              <a:t>Use of Funds</a:t>
            </a:r>
          </a:p>
        </p:txBody>
      </p:sp>
      <p:sp>
        <p:nvSpPr>
          <p:cNvPr id="8" name="Rectangle 7"/>
          <p:cNvSpPr/>
          <p:nvPr/>
        </p:nvSpPr>
        <p:spPr>
          <a:xfrm>
            <a:off x="1097280" y="3749039"/>
            <a:ext cx="1645920" cy="32004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0" y="3749039"/>
            <a:ext cx="2468880" cy="320040"/>
          </a:xfrm>
          <a:prstGeom prst="rect">
            <a:avLst/>
          </a:prstGeom>
          <a:solidFill>
            <a:srgbClr val="E0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767327"/>
            <a:ext cx="2743200" cy="274320"/>
          </a:xfrm>
          <a:prstGeom prst="rect">
            <a:avLst/>
          </a:prstGeom>
          <a:noFill/>
        </p:spPr>
        <p:txBody>
          <a:bodyPr wrap="square">
            <a:spAutoFit/>
          </a:bodyPr>
          <a:lstStyle/>
          <a:p>
            <a:pPr algn="l">
              <a:lnSpc>
                <a:spcPts val="1560"/>
              </a:lnSpc>
              <a:spcAft>
                <a:spcPts val="0"/>
              </a:spcAft>
              <a:defRPr sz="1300" b="1">
                <a:solidFill>
                  <a:srgbClr val="FFFFFF"/>
                </a:solidFill>
                <a:latin typeface="Calibri"/>
              </a:defRPr>
            </a:pPr>
            <a:r>
              <a:t>40%  Head of Growth hire</a:t>
            </a:r>
          </a:p>
        </p:txBody>
      </p:sp>
      <p:sp>
        <p:nvSpPr>
          <p:cNvPr id="11" name="TextBox 10"/>
          <p:cNvSpPr txBox="1"/>
          <p:nvPr/>
        </p:nvSpPr>
        <p:spPr>
          <a:xfrm>
            <a:off x="5486400" y="3767327"/>
            <a:ext cx="45720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User acquisition, coach outreach, partnerships</a:t>
            </a:r>
          </a:p>
        </p:txBody>
      </p:sp>
      <p:sp>
        <p:nvSpPr>
          <p:cNvPr id="12" name="Rectangle 11"/>
          <p:cNvSpPr/>
          <p:nvPr/>
        </p:nvSpPr>
        <p:spPr>
          <a:xfrm>
            <a:off x="1097280" y="4389120"/>
            <a:ext cx="1028700" cy="32004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25980" y="4389120"/>
            <a:ext cx="3086100" cy="320040"/>
          </a:xfrm>
          <a:prstGeom prst="rect">
            <a:avLst/>
          </a:prstGeom>
          <a:solidFill>
            <a:srgbClr val="E0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407408"/>
            <a:ext cx="2743200" cy="274320"/>
          </a:xfrm>
          <a:prstGeom prst="rect">
            <a:avLst/>
          </a:prstGeom>
          <a:noFill/>
        </p:spPr>
        <p:txBody>
          <a:bodyPr wrap="square">
            <a:spAutoFit/>
          </a:bodyPr>
          <a:lstStyle/>
          <a:p>
            <a:pPr algn="l">
              <a:lnSpc>
                <a:spcPts val="1560"/>
              </a:lnSpc>
              <a:spcAft>
                <a:spcPts val="0"/>
              </a:spcAft>
              <a:defRPr sz="1300" b="1">
                <a:solidFill>
                  <a:srgbClr val="FFFFFF"/>
                </a:solidFill>
                <a:latin typeface="Calibri"/>
              </a:defRPr>
            </a:pPr>
            <a:r>
              <a:t>25%  Marketing &amp; acquisition</a:t>
            </a:r>
          </a:p>
        </p:txBody>
      </p:sp>
      <p:sp>
        <p:nvSpPr>
          <p:cNvPr id="15" name="TextBox 14"/>
          <p:cNvSpPr txBox="1"/>
          <p:nvPr/>
        </p:nvSpPr>
        <p:spPr>
          <a:xfrm>
            <a:off x="5486400" y="4407408"/>
            <a:ext cx="45720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App Store ads, influencer partnerships, event sponsorships</a:t>
            </a:r>
          </a:p>
        </p:txBody>
      </p:sp>
      <p:sp>
        <p:nvSpPr>
          <p:cNvPr id="16" name="Rectangle 15"/>
          <p:cNvSpPr/>
          <p:nvPr/>
        </p:nvSpPr>
        <p:spPr>
          <a:xfrm>
            <a:off x="1097280" y="5029200"/>
            <a:ext cx="822960" cy="32004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920240" y="5029200"/>
            <a:ext cx="3291840" cy="320040"/>
          </a:xfrm>
          <a:prstGeom prst="rect">
            <a:avLst/>
          </a:prstGeom>
          <a:solidFill>
            <a:srgbClr val="E0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5047488"/>
            <a:ext cx="2743200" cy="274320"/>
          </a:xfrm>
          <a:prstGeom prst="rect">
            <a:avLst/>
          </a:prstGeom>
          <a:noFill/>
        </p:spPr>
        <p:txBody>
          <a:bodyPr wrap="square">
            <a:spAutoFit/>
          </a:bodyPr>
          <a:lstStyle/>
          <a:p>
            <a:pPr algn="l">
              <a:lnSpc>
                <a:spcPts val="1560"/>
              </a:lnSpc>
              <a:spcAft>
                <a:spcPts val="0"/>
              </a:spcAft>
              <a:defRPr sz="1300" b="1">
                <a:solidFill>
                  <a:srgbClr val="FFFFFF"/>
                </a:solidFill>
                <a:latin typeface="Calibri"/>
              </a:defRPr>
            </a:pPr>
            <a:r>
              <a:t>20%  Product development</a:t>
            </a:r>
          </a:p>
        </p:txBody>
      </p:sp>
      <p:sp>
        <p:nvSpPr>
          <p:cNvPr id="19" name="TextBox 18"/>
          <p:cNvSpPr txBox="1"/>
          <p:nvPr/>
        </p:nvSpPr>
        <p:spPr>
          <a:xfrm>
            <a:off x="5486400" y="5047488"/>
            <a:ext cx="45720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Garmin integration depth, analytics, onboarding optimization</a:t>
            </a:r>
          </a:p>
        </p:txBody>
      </p:sp>
      <p:sp>
        <p:nvSpPr>
          <p:cNvPr id="20" name="Rectangle 19"/>
          <p:cNvSpPr/>
          <p:nvPr/>
        </p:nvSpPr>
        <p:spPr>
          <a:xfrm>
            <a:off x="1097280" y="5669279"/>
            <a:ext cx="617219" cy="32004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714499" y="5669279"/>
            <a:ext cx="3497580" cy="320040"/>
          </a:xfrm>
          <a:prstGeom prst="rect">
            <a:avLst/>
          </a:prstGeom>
          <a:solidFill>
            <a:srgbClr val="E0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5687567"/>
            <a:ext cx="2743200" cy="274320"/>
          </a:xfrm>
          <a:prstGeom prst="rect">
            <a:avLst/>
          </a:prstGeom>
          <a:noFill/>
        </p:spPr>
        <p:txBody>
          <a:bodyPr wrap="square">
            <a:spAutoFit/>
          </a:bodyPr>
          <a:lstStyle/>
          <a:p>
            <a:pPr algn="l">
              <a:lnSpc>
                <a:spcPts val="1560"/>
              </a:lnSpc>
              <a:spcAft>
                <a:spcPts val="0"/>
              </a:spcAft>
              <a:defRPr sz="1300" b="1">
                <a:solidFill>
                  <a:srgbClr val="FFFFFF"/>
                </a:solidFill>
                <a:latin typeface="Calibri"/>
              </a:defRPr>
            </a:pPr>
            <a:r>
              <a:t>15%  Operations &amp; runway</a:t>
            </a:r>
          </a:p>
        </p:txBody>
      </p:sp>
      <p:sp>
        <p:nvSpPr>
          <p:cNvPr id="23" name="TextBox 22"/>
          <p:cNvSpPr txBox="1"/>
          <p:nvPr/>
        </p:nvSpPr>
        <p:spPr>
          <a:xfrm>
            <a:off x="5486400" y="5687567"/>
            <a:ext cx="4572000" cy="27432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Infrastructure, tools, 18-month runway extension</a:t>
            </a:r>
          </a:p>
        </p:txBody>
      </p:sp>
      <p:sp>
        <p:nvSpPr>
          <p:cNvPr id="24" name="TextBox 23"/>
          <p:cNvSpPr txBox="1"/>
          <p:nvPr/>
        </p:nvSpPr>
        <p:spPr>
          <a:xfrm>
            <a:off x="6858000" y="3200400"/>
            <a:ext cx="4572000" cy="457200"/>
          </a:xfrm>
          <a:prstGeom prst="rect">
            <a:avLst/>
          </a:prstGeom>
          <a:noFill/>
        </p:spPr>
        <p:txBody>
          <a:bodyPr wrap="square">
            <a:spAutoFit/>
          </a:bodyPr>
          <a:lstStyle/>
          <a:p>
            <a:pPr algn="l">
              <a:lnSpc>
                <a:spcPts val="2400"/>
              </a:lnSpc>
              <a:spcAft>
                <a:spcPts val="0"/>
              </a:spcAft>
              <a:defRPr sz="2000" b="1">
                <a:solidFill>
                  <a:srgbClr val="3D1F47"/>
                </a:solidFill>
                <a:latin typeface="Calibri"/>
              </a:defRPr>
            </a:pPr>
            <a:r>
              <a:t>18-Month Milestones</a:t>
            </a:r>
          </a:p>
        </p:txBody>
      </p:sp>
      <p:sp>
        <p:nvSpPr>
          <p:cNvPr id="25" name="TextBox 24"/>
          <p:cNvSpPr txBox="1"/>
          <p:nvPr/>
        </p:nvSpPr>
        <p:spPr>
          <a:xfrm>
            <a:off x="6858000" y="3749039"/>
            <a:ext cx="1097280" cy="365760"/>
          </a:xfrm>
          <a:prstGeom prst="rect">
            <a:avLst/>
          </a:prstGeom>
          <a:noFill/>
        </p:spPr>
        <p:txBody>
          <a:bodyPr wrap="square">
            <a:spAutoFit/>
          </a:bodyPr>
          <a:lstStyle/>
          <a:p>
            <a:pPr algn="l">
              <a:lnSpc>
                <a:spcPts val="1560"/>
              </a:lnSpc>
              <a:spcAft>
                <a:spcPts val="0"/>
              </a:spcAft>
              <a:defRPr sz="1300" b="1">
                <a:solidFill>
                  <a:srgbClr val="FF8B3D"/>
                </a:solidFill>
                <a:latin typeface="Calibri"/>
              </a:defRPr>
            </a:pPr>
            <a:r>
              <a:t>Q2 2026</a:t>
            </a:r>
          </a:p>
        </p:txBody>
      </p:sp>
      <p:sp>
        <p:nvSpPr>
          <p:cNvPr id="26" name="TextBox 25"/>
          <p:cNvSpPr txBox="1"/>
          <p:nvPr/>
        </p:nvSpPr>
        <p:spPr>
          <a:xfrm>
            <a:off x="8046720" y="3749039"/>
            <a:ext cx="3200400" cy="36576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Subscription revenue live</a:t>
            </a:r>
          </a:p>
        </p:txBody>
      </p:sp>
      <p:sp>
        <p:nvSpPr>
          <p:cNvPr id="27" name="TextBox 26"/>
          <p:cNvSpPr txBox="1"/>
          <p:nvPr/>
        </p:nvSpPr>
        <p:spPr>
          <a:xfrm>
            <a:off x="6858000" y="4206240"/>
            <a:ext cx="1097280" cy="365760"/>
          </a:xfrm>
          <a:prstGeom prst="rect">
            <a:avLst/>
          </a:prstGeom>
          <a:noFill/>
        </p:spPr>
        <p:txBody>
          <a:bodyPr wrap="square">
            <a:spAutoFit/>
          </a:bodyPr>
          <a:lstStyle/>
          <a:p>
            <a:pPr algn="l">
              <a:lnSpc>
                <a:spcPts val="1560"/>
              </a:lnSpc>
              <a:spcAft>
                <a:spcPts val="0"/>
              </a:spcAft>
              <a:defRPr sz="1300" b="1">
                <a:solidFill>
                  <a:srgbClr val="FF8B3D"/>
                </a:solidFill>
                <a:latin typeface="Calibri"/>
              </a:defRPr>
            </a:pPr>
            <a:r>
              <a:t>Q3 2026</a:t>
            </a:r>
          </a:p>
        </p:txBody>
      </p:sp>
      <p:sp>
        <p:nvSpPr>
          <p:cNvPr id="28" name="TextBox 27"/>
          <p:cNvSpPr txBox="1"/>
          <p:nvPr/>
        </p:nvSpPr>
        <p:spPr>
          <a:xfrm>
            <a:off x="8046720" y="4206240"/>
            <a:ext cx="3200400" cy="36576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100+ paying subscribers</a:t>
            </a:r>
          </a:p>
        </p:txBody>
      </p:sp>
      <p:sp>
        <p:nvSpPr>
          <p:cNvPr id="29" name="TextBox 28"/>
          <p:cNvSpPr txBox="1"/>
          <p:nvPr/>
        </p:nvSpPr>
        <p:spPr>
          <a:xfrm>
            <a:off x="6858000" y="4663440"/>
            <a:ext cx="1097280" cy="365760"/>
          </a:xfrm>
          <a:prstGeom prst="rect">
            <a:avLst/>
          </a:prstGeom>
          <a:noFill/>
        </p:spPr>
        <p:txBody>
          <a:bodyPr wrap="square">
            <a:spAutoFit/>
          </a:bodyPr>
          <a:lstStyle/>
          <a:p>
            <a:pPr algn="l">
              <a:lnSpc>
                <a:spcPts val="1560"/>
              </a:lnSpc>
              <a:spcAft>
                <a:spcPts val="0"/>
              </a:spcAft>
              <a:defRPr sz="1300" b="1">
                <a:solidFill>
                  <a:srgbClr val="FF8B3D"/>
                </a:solidFill>
                <a:latin typeface="Calibri"/>
              </a:defRPr>
            </a:pPr>
            <a:r>
              <a:t>Q3 2026</a:t>
            </a:r>
          </a:p>
        </p:txBody>
      </p:sp>
      <p:sp>
        <p:nvSpPr>
          <p:cNvPr id="30" name="TextBox 29"/>
          <p:cNvSpPr txBox="1"/>
          <p:nvPr/>
        </p:nvSpPr>
        <p:spPr>
          <a:xfrm>
            <a:off x="8046720" y="4663440"/>
            <a:ext cx="3200400" cy="36576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10+ coaches onboarded</a:t>
            </a:r>
          </a:p>
        </p:txBody>
      </p:sp>
      <p:sp>
        <p:nvSpPr>
          <p:cNvPr id="31" name="TextBox 30"/>
          <p:cNvSpPr txBox="1"/>
          <p:nvPr/>
        </p:nvSpPr>
        <p:spPr>
          <a:xfrm>
            <a:off x="6858000" y="5120640"/>
            <a:ext cx="1097280" cy="365760"/>
          </a:xfrm>
          <a:prstGeom prst="rect">
            <a:avLst/>
          </a:prstGeom>
          <a:noFill/>
        </p:spPr>
        <p:txBody>
          <a:bodyPr wrap="square">
            <a:spAutoFit/>
          </a:bodyPr>
          <a:lstStyle/>
          <a:p>
            <a:pPr algn="l">
              <a:lnSpc>
                <a:spcPts val="1560"/>
              </a:lnSpc>
              <a:spcAft>
                <a:spcPts val="0"/>
              </a:spcAft>
              <a:defRPr sz="1300" b="1">
                <a:solidFill>
                  <a:srgbClr val="FF8B3D"/>
                </a:solidFill>
                <a:latin typeface="Calibri"/>
              </a:defRPr>
            </a:pPr>
            <a:r>
              <a:t>Q4 2026</a:t>
            </a:r>
          </a:p>
        </p:txBody>
      </p:sp>
      <p:sp>
        <p:nvSpPr>
          <p:cNvPr id="32" name="TextBox 31"/>
          <p:cNvSpPr txBox="1"/>
          <p:nvPr/>
        </p:nvSpPr>
        <p:spPr>
          <a:xfrm>
            <a:off x="8046720" y="5120640"/>
            <a:ext cx="3200400" cy="36576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$12K-$70K ARR</a:t>
            </a:r>
          </a:p>
        </p:txBody>
      </p:sp>
      <p:sp>
        <p:nvSpPr>
          <p:cNvPr id="33" name="TextBox 32"/>
          <p:cNvSpPr txBox="1"/>
          <p:nvPr/>
        </p:nvSpPr>
        <p:spPr>
          <a:xfrm>
            <a:off x="6858000" y="5577840"/>
            <a:ext cx="1097280" cy="365760"/>
          </a:xfrm>
          <a:prstGeom prst="rect">
            <a:avLst/>
          </a:prstGeom>
          <a:noFill/>
        </p:spPr>
        <p:txBody>
          <a:bodyPr wrap="square">
            <a:spAutoFit/>
          </a:bodyPr>
          <a:lstStyle/>
          <a:p>
            <a:pPr algn="l">
              <a:lnSpc>
                <a:spcPts val="1560"/>
              </a:lnSpc>
              <a:spcAft>
                <a:spcPts val="0"/>
              </a:spcAft>
              <a:defRPr sz="1300" b="1">
                <a:solidFill>
                  <a:srgbClr val="FF8B3D"/>
                </a:solidFill>
                <a:latin typeface="Calibri"/>
              </a:defRPr>
            </a:pPr>
            <a:r>
              <a:t>Q1 2027</a:t>
            </a:r>
          </a:p>
        </p:txBody>
      </p:sp>
      <p:sp>
        <p:nvSpPr>
          <p:cNvPr id="34" name="TextBox 33"/>
          <p:cNvSpPr txBox="1"/>
          <p:nvPr/>
        </p:nvSpPr>
        <p:spPr>
          <a:xfrm>
            <a:off x="8046720" y="5577840"/>
            <a:ext cx="3200400" cy="36576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B2C + B2B PMF proven</a:t>
            </a:r>
          </a:p>
        </p:txBody>
      </p:sp>
      <p:sp>
        <p:nvSpPr>
          <p:cNvPr id="35" name="TextBox 34"/>
          <p:cNvSpPr txBox="1"/>
          <p:nvPr/>
        </p:nvSpPr>
        <p:spPr>
          <a:xfrm>
            <a:off x="6858000" y="6035040"/>
            <a:ext cx="1097280" cy="365760"/>
          </a:xfrm>
          <a:prstGeom prst="rect">
            <a:avLst/>
          </a:prstGeom>
          <a:noFill/>
        </p:spPr>
        <p:txBody>
          <a:bodyPr wrap="square">
            <a:spAutoFit/>
          </a:bodyPr>
          <a:lstStyle/>
          <a:p>
            <a:pPr algn="l">
              <a:lnSpc>
                <a:spcPts val="1560"/>
              </a:lnSpc>
              <a:spcAft>
                <a:spcPts val="0"/>
              </a:spcAft>
              <a:defRPr sz="1300" b="1">
                <a:solidFill>
                  <a:srgbClr val="FF8B3D"/>
                </a:solidFill>
                <a:latin typeface="Calibri"/>
              </a:defRPr>
            </a:pPr>
            <a:r>
              <a:t>Q2 2027</a:t>
            </a:r>
          </a:p>
        </p:txBody>
      </p:sp>
      <p:sp>
        <p:nvSpPr>
          <p:cNvPr id="36" name="TextBox 35"/>
          <p:cNvSpPr txBox="1"/>
          <p:nvPr/>
        </p:nvSpPr>
        <p:spPr>
          <a:xfrm>
            <a:off x="8046720" y="6035040"/>
            <a:ext cx="3200400" cy="365760"/>
          </a:xfrm>
          <a:prstGeom prst="rect">
            <a:avLst/>
          </a:prstGeom>
          <a:noFill/>
        </p:spPr>
        <p:txBody>
          <a:bodyPr wrap="square">
            <a:spAutoFit/>
          </a:bodyPr>
          <a:lstStyle/>
          <a:p>
            <a:pPr algn="l">
              <a:lnSpc>
                <a:spcPts val="1560"/>
              </a:lnSpc>
              <a:spcAft>
                <a:spcPts val="0"/>
              </a:spcAft>
              <a:defRPr sz="1300" b="0">
                <a:solidFill>
                  <a:srgbClr val="381633"/>
                </a:solidFill>
                <a:latin typeface="Calibri"/>
              </a:defRPr>
            </a:pPr>
            <a:r>
              <a:t>Series seed readiness</a:t>
            </a:r>
          </a:p>
        </p:txBody>
      </p:sp>
      <p:sp>
        <p:nvSpPr>
          <p:cNvPr id="37" name="TextBox 36"/>
          <p:cNvSpPr txBox="1"/>
          <p:nvPr/>
        </p:nvSpPr>
        <p:spPr>
          <a:xfrm>
            <a:off x="11338560" y="6400800"/>
            <a:ext cx="731520" cy="365760"/>
          </a:xfrm>
          <a:prstGeom prst="rect">
            <a:avLst/>
          </a:prstGeom>
          <a:noFill/>
        </p:spPr>
        <p:txBody>
          <a:bodyPr wrap="square">
            <a:spAutoFit/>
          </a:bodyPr>
          <a:lstStyle/>
          <a:p>
            <a:pPr algn="r">
              <a:lnSpc>
                <a:spcPts val="1200"/>
              </a:lnSpc>
              <a:spcAft>
                <a:spcPts val="0"/>
              </a:spcAft>
              <a:defRPr sz="1000" b="0">
                <a:solidFill>
                  <a:srgbClr val="CCCCCC"/>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3D1F4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144000" cy="457200"/>
          </a:xfrm>
          <a:prstGeom prst="rect">
            <a:avLst/>
          </a:prstGeom>
          <a:noFill/>
        </p:spPr>
        <p:txBody>
          <a:bodyPr wrap="square">
            <a:spAutoFit/>
          </a:bodyPr>
          <a:lstStyle/>
          <a:p>
            <a:pPr algn="l">
              <a:lnSpc>
                <a:spcPts val="1680"/>
              </a:lnSpc>
              <a:spcAft>
                <a:spcPts val="0"/>
              </a:spcAft>
              <a:defRPr sz="1400" b="1">
                <a:solidFill>
                  <a:srgbClr val="FF8B3D"/>
                </a:solidFill>
                <a:latin typeface="Calibri"/>
              </a:defRPr>
            </a:pPr>
            <a:r>
              <a:t>OUR VISION</a:t>
            </a:r>
          </a:p>
        </p:txBody>
      </p:sp>
      <p:sp>
        <p:nvSpPr>
          <p:cNvPr id="4" name="TextBox 3"/>
          <p:cNvSpPr txBox="1"/>
          <p:nvPr/>
        </p:nvSpPr>
        <p:spPr>
          <a:xfrm>
            <a:off x="1371600" y="2011680"/>
            <a:ext cx="9144000" cy="1828800"/>
          </a:xfrm>
          <a:prstGeom prst="rect">
            <a:avLst/>
          </a:prstGeom>
          <a:noFill/>
        </p:spPr>
        <p:txBody>
          <a:bodyPr wrap="square">
            <a:spAutoFit/>
          </a:bodyPr>
          <a:lstStyle/>
          <a:p>
            <a:pPr algn="l">
              <a:lnSpc>
                <a:spcPts val="5280"/>
              </a:lnSpc>
              <a:spcAft>
                <a:spcPts val="0"/>
              </a:spcAft>
              <a:defRPr sz="4400" b="1">
                <a:solidFill>
                  <a:srgbClr val="FFFFFF"/>
                </a:solidFill>
                <a:latin typeface="Calibri"/>
              </a:defRPr>
            </a:pPr>
            <a:r>
              <a:t>Become the nutrition intelligence</a:t>
            </a:r>
            <a:br/>
            <a:r>
              <a:t>layer for endurance sports.</a:t>
            </a:r>
          </a:p>
        </p:txBody>
      </p:sp>
      <p:sp>
        <p:nvSpPr>
          <p:cNvPr id="5" name="Rectangle 4"/>
          <p:cNvSpPr/>
          <p:nvPr/>
        </p:nvSpPr>
        <p:spPr>
          <a:xfrm>
            <a:off x="1371600" y="4023360"/>
            <a:ext cx="1097280" cy="50800"/>
          </a:xfrm>
          <a:prstGeom prst="rect">
            <a:avLst/>
          </a:prstGeom>
          <a:solidFill>
            <a:srgbClr val="FF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389120"/>
            <a:ext cx="9144000" cy="914400"/>
          </a:xfrm>
          <a:prstGeom prst="rect">
            <a:avLst/>
          </a:prstGeom>
          <a:noFill/>
        </p:spPr>
        <p:txBody>
          <a:bodyPr wrap="square">
            <a:spAutoFit/>
          </a:bodyPr>
          <a:lstStyle/>
          <a:p>
            <a:pPr algn="l">
              <a:lnSpc>
                <a:spcPts val="2640"/>
              </a:lnSpc>
              <a:spcAft>
                <a:spcPts val="0"/>
              </a:spcAft>
              <a:defRPr sz="2200" b="0">
                <a:solidFill>
                  <a:srgbClr val="F5F3ED"/>
                </a:solidFill>
                <a:latin typeface="Calibri"/>
              </a:defRPr>
            </a:pPr>
            <a:r>
              <a:t>Training platforms tell athletes how to train.</a:t>
            </a:r>
            <a:br/>
            <a:r>
              <a:t>Mealvana tells them how to fuel.</a:t>
            </a:r>
          </a:p>
        </p:txBody>
      </p:sp>
      <p:sp>
        <p:nvSpPr>
          <p:cNvPr id="7" name="TextBox 6"/>
          <p:cNvSpPr txBox="1"/>
          <p:nvPr/>
        </p:nvSpPr>
        <p:spPr>
          <a:xfrm>
            <a:off x="1371600" y="5486400"/>
            <a:ext cx="4572000" cy="365760"/>
          </a:xfrm>
          <a:prstGeom prst="rect">
            <a:avLst/>
          </a:prstGeom>
          <a:noFill/>
        </p:spPr>
        <p:txBody>
          <a:bodyPr wrap="square">
            <a:spAutoFit/>
          </a:bodyPr>
          <a:lstStyle/>
          <a:p>
            <a:pPr algn="l">
              <a:lnSpc>
                <a:spcPts val="1920"/>
              </a:lnSpc>
              <a:spcAft>
                <a:spcPts val="0"/>
              </a:spcAft>
              <a:defRPr sz="1600" b="0">
                <a:solidFill>
                  <a:srgbClr val="5DE4D3"/>
                </a:solidFill>
                <a:latin typeface="Calibri"/>
              </a:defRPr>
            </a:pPr>
            <a:r>
              <a:t>endurance.mealvana.io</a:t>
            </a:r>
          </a:p>
        </p:txBody>
      </p:sp>
      <p:sp>
        <p:nvSpPr>
          <p:cNvPr id="8" name="TextBox 7"/>
          <p:cNvSpPr txBox="1"/>
          <p:nvPr/>
        </p:nvSpPr>
        <p:spPr>
          <a:xfrm>
            <a:off x="1371600" y="5852160"/>
            <a:ext cx="4572000" cy="365760"/>
          </a:xfrm>
          <a:prstGeom prst="rect">
            <a:avLst/>
          </a:prstGeom>
          <a:noFill/>
        </p:spPr>
        <p:txBody>
          <a:bodyPr wrap="square">
            <a:spAutoFit/>
          </a:bodyPr>
          <a:lstStyle/>
          <a:p>
            <a:pPr algn="l">
              <a:lnSpc>
                <a:spcPts val="1680"/>
              </a:lnSpc>
              <a:spcAft>
                <a:spcPts val="0"/>
              </a:spcAft>
              <a:defRPr sz="1400" b="0">
                <a:solidFill>
                  <a:srgbClr val="CCCCCC"/>
                </a:solidFill>
                <a:latin typeface="Calibri"/>
              </a:defRPr>
            </a:pPr>
            <a:r>
              <a:t>xh.analytics@gmail.com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